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shade val="45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3DA4-40B9-95A0-2ACEF4EEBE9E}"/>
              </c:ext>
            </c:extLst>
          </c:dPt>
          <c:dPt>
            <c:idx val="1"/>
            <c:bubble3D val="0"/>
            <c:spPr>
              <a:solidFill>
                <a:schemeClr val="accent1">
                  <a:shade val="61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3DA4-40B9-95A0-2ACEF4EEBE9E}"/>
              </c:ext>
            </c:extLst>
          </c:dPt>
          <c:dPt>
            <c:idx val="2"/>
            <c:bubble3D val="0"/>
            <c:spPr>
              <a:solidFill>
                <a:schemeClr val="accent1">
                  <a:shade val="76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3DA4-40B9-95A0-2ACEF4EEBE9E}"/>
              </c:ext>
            </c:extLst>
          </c:dPt>
          <c:dPt>
            <c:idx val="3"/>
            <c:bubble3D val="0"/>
            <c:spPr>
              <a:solidFill>
                <a:schemeClr val="accent1">
                  <a:shade val="92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3DA4-40B9-95A0-2ACEF4EEBE9E}"/>
              </c:ext>
            </c:extLst>
          </c:dPt>
          <c:dPt>
            <c:idx val="4"/>
            <c:bubble3D val="0"/>
            <c:spPr>
              <a:solidFill>
                <a:schemeClr val="accent1">
                  <a:tint val="93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3DA4-40B9-95A0-2ACEF4EEBE9E}"/>
              </c:ext>
            </c:extLst>
          </c:dPt>
          <c:dPt>
            <c:idx val="5"/>
            <c:bubble3D val="0"/>
            <c:spPr>
              <a:solidFill>
                <a:schemeClr val="accent1">
                  <a:tint val="77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3DA4-40B9-95A0-2ACEF4EEBE9E}"/>
              </c:ext>
            </c:extLst>
          </c:dPt>
          <c:dPt>
            <c:idx val="6"/>
            <c:bubble3D val="0"/>
            <c:spPr>
              <a:solidFill>
                <a:schemeClr val="accent1">
                  <a:tint val="62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D-3DA4-40B9-95A0-2ACEF4EEBE9E}"/>
              </c:ext>
            </c:extLst>
          </c:dPt>
          <c:dPt>
            <c:idx val="7"/>
            <c:bubble3D val="0"/>
            <c:spPr>
              <a:solidFill>
                <a:schemeClr val="accent1">
                  <a:tint val="46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F-3DA4-40B9-95A0-2ACEF4EEBE9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Sheet1!$A$2:$A$9</c:f>
              <c:strCache>
                <c:ptCount val="8"/>
                <c:pt idx="0">
                  <c:v>Manufacturing &amp; Industrial (IIoT)</c:v>
                </c:pt>
                <c:pt idx="1">
                  <c:v>VR/AR/Gaming</c:v>
                </c:pt>
                <c:pt idx="2">
                  <c:v>Energy &amp; Utilities</c:v>
                </c:pt>
                <c:pt idx="3">
                  <c:v>Services (Managed/Professional)</c:v>
                </c:pt>
                <c:pt idx="4">
                  <c:v>Healthcare &amp; Life Sciences</c:v>
                </c:pt>
                <c:pt idx="5">
                  <c:v>Transportation &amp; Logistics</c:v>
                </c:pt>
                <c:pt idx="6">
                  <c:v>Retail &amp; E-commerce</c:v>
                </c:pt>
                <c:pt idx="7">
                  <c:v>Others (Public Infra, BFSI)</c:v>
                </c:pt>
              </c:strCache>
            </c:strRef>
          </c:cat>
          <c:val>
            <c:numRef>
              <c:f>Sheet1!$B$2:$B$9</c:f>
              <c:numCache>
                <c:formatCode>0.00%</c:formatCode>
                <c:ptCount val="8"/>
                <c:pt idx="0">
                  <c:v>0.185</c:v>
                </c:pt>
                <c:pt idx="1">
                  <c:v>0.16200000000000001</c:v>
                </c:pt>
                <c:pt idx="2">
                  <c:v>0.16</c:v>
                </c:pt>
                <c:pt idx="3">
                  <c:v>0.13300000000000001</c:v>
                </c:pt>
                <c:pt idx="4">
                  <c:v>0.105</c:v>
                </c:pt>
                <c:pt idx="5">
                  <c:v>9.5000000000000001E-2</c:v>
                </c:pt>
                <c:pt idx="6">
                  <c:v>0.08</c:v>
                </c:pt>
                <c:pt idx="7">
                  <c:v>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14-4F58-ADFE-506C4BA6843B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39B48C-B981-4864-80C4-4411991C472E}" type="datetimeFigureOut">
              <a:rPr lang="en-IN" smtClean="0"/>
              <a:t>2026-05-24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0765F7-D273-444B-9B77-21C4597C9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247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765F7-D273-444B-9B77-21C4597C91D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3927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63DA-3158-4931-800D-7BD3B9E6C2B5}" type="datetimeFigureOut">
              <a:rPr lang="en-IN" smtClean="0"/>
              <a:t>2026-05-24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214B193E-EC27-4346-9493-A5629127E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657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63DA-3158-4931-800D-7BD3B9E6C2B5}" type="datetimeFigureOut">
              <a:rPr lang="en-IN" smtClean="0"/>
              <a:t>2026-05-24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B193E-EC27-4346-9493-A5629127E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2988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1FE763DA-3158-4931-800D-7BD3B9E6C2B5}" type="datetimeFigureOut">
              <a:rPr lang="en-IN" smtClean="0"/>
              <a:t>2026-05-24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214B193E-EC27-4346-9493-A5629127E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122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63DA-3158-4931-800D-7BD3B9E6C2B5}" type="datetimeFigureOut">
              <a:rPr lang="en-IN" smtClean="0"/>
              <a:t>2026-05-24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B193E-EC27-4346-9493-A5629127E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151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63DA-3158-4931-800D-7BD3B9E6C2B5}" type="datetimeFigureOut">
              <a:rPr lang="en-IN" smtClean="0"/>
              <a:t>2026-05-24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B193E-EC27-4346-9493-A5629127E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210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63DA-3158-4931-800D-7BD3B9E6C2B5}" type="datetimeFigureOut">
              <a:rPr lang="en-IN" smtClean="0"/>
              <a:t>2026-05-24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B193E-EC27-4346-9493-A5629127E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039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63DA-3158-4931-800D-7BD3B9E6C2B5}" type="datetimeFigureOut">
              <a:rPr lang="en-IN" smtClean="0"/>
              <a:t>2026-05-24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B193E-EC27-4346-9493-A5629127E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4886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63DA-3158-4931-800D-7BD3B9E6C2B5}" type="datetimeFigureOut">
              <a:rPr lang="en-IN" smtClean="0"/>
              <a:t>2026-05-24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B193E-EC27-4346-9493-A5629127E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480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63DA-3158-4931-800D-7BD3B9E6C2B5}" type="datetimeFigureOut">
              <a:rPr lang="en-IN" smtClean="0"/>
              <a:t>2026-05-24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B193E-EC27-4346-9493-A5629127E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885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63DA-3158-4931-800D-7BD3B9E6C2B5}" type="datetimeFigureOut">
              <a:rPr lang="en-IN" smtClean="0"/>
              <a:t>2026-05-24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B193E-EC27-4346-9493-A5629127E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042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63DA-3158-4931-800D-7BD3B9E6C2B5}" type="datetimeFigureOut">
              <a:rPr lang="en-IN" smtClean="0"/>
              <a:t>2026-05-24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B193E-EC27-4346-9493-A5629127E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720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1FE763DA-3158-4931-800D-7BD3B9E6C2B5}" type="datetimeFigureOut">
              <a:rPr lang="en-IN" smtClean="0"/>
              <a:t>2026-05-24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214B193E-EC27-4346-9493-A5629127E3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8340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03" r:id="rId2"/>
    <p:sldLayoutId id="2147484004" r:id="rId3"/>
    <p:sldLayoutId id="2147484005" r:id="rId4"/>
    <p:sldLayoutId id="2147484006" r:id="rId5"/>
    <p:sldLayoutId id="2147484007" r:id="rId6"/>
    <p:sldLayoutId id="2147484008" r:id="rId7"/>
    <p:sldLayoutId id="2147484009" r:id="rId8"/>
    <p:sldLayoutId id="2147484010" r:id="rId9"/>
    <p:sldLayoutId id="2147484011" r:id="rId10"/>
    <p:sldLayoutId id="214748401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rketsandmarkets.com/Market-Reports/edge-computing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my.idc.com/getdoc.jsp?containerId=prUS53261225" TargetMode="External"/><Relationship Id="rId5" Type="http://schemas.openxmlformats.org/officeDocument/2006/relationships/hyperlink" Target="https://www.fortunebusinessinsights.com/edge-computing-market-103760" TargetMode="External"/><Relationship Id="rId4" Type="http://schemas.openxmlformats.org/officeDocument/2006/relationships/hyperlink" Target="https://www.marketsandmarkets.com/Market-Reports/edge-computing-market-133384090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51858-F181-886D-A242-655C2C963F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1728" y="1120877"/>
            <a:ext cx="9966960" cy="3671618"/>
          </a:xfrm>
        </p:spPr>
        <p:txBody>
          <a:bodyPr/>
          <a:lstStyle/>
          <a:p>
            <a:r>
              <a:rPr lang="en-US" sz="7200" dirty="0"/>
              <a:t>Growth Opportunities in the Edge computing market in </a:t>
            </a:r>
            <a:r>
              <a:rPr lang="en-US" sz="7200" dirty="0" err="1"/>
              <a:t>asia</a:t>
            </a:r>
            <a:r>
              <a:rPr lang="en-US" sz="7200" dirty="0"/>
              <a:t>-pacific region</a:t>
            </a:r>
            <a:endParaRPr lang="en-IN" sz="7200" dirty="0"/>
          </a:p>
        </p:txBody>
      </p:sp>
    </p:spTree>
    <p:extLst>
      <p:ext uri="{BB962C8B-B14F-4D97-AF65-F5344CB8AC3E}">
        <p14:creationId xmlns:p14="http://schemas.microsoft.com/office/powerpoint/2010/main" val="130782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19974-DBD0-F928-0DCE-ACC3A57D3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1845" y="0"/>
            <a:ext cx="4788309" cy="668594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900" u="sng" dirty="0"/>
              <a:t>Executive Summary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CDF77E3-7FBD-CDD5-3F5A-151FDE4C5E55}"/>
              </a:ext>
            </a:extLst>
          </p:cNvPr>
          <p:cNvGrpSpPr/>
          <p:nvPr/>
        </p:nvGrpSpPr>
        <p:grpSpPr>
          <a:xfrm>
            <a:off x="-137652" y="991966"/>
            <a:ext cx="12221497" cy="923330"/>
            <a:chOff x="-137652" y="832393"/>
            <a:chExt cx="12221497" cy="923330"/>
          </a:xfrm>
        </p:grpSpPr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56D81BBF-3595-589D-6B8D-9606E7BC99B5}"/>
                </a:ext>
              </a:extLst>
            </p:cNvPr>
            <p:cNvSpPr txBox="1">
              <a:spLocks/>
            </p:cNvSpPr>
            <p:nvPr/>
          </p:nvSpPr>
          <p:spPr>
            <a:xfrm>
              <a:off x="-137652" y="1085601"/>
              <a:ext cx="1465006" cy="41691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kern="1200" cap="all" baseline="0">
                  <a:blipFill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tile tx="6350" ty="-127000" sx="65000" sy="64000" flip="none" algn="tl"/>
                  </a:blip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2800" u="sng" dirty="0"/>
                <a:t>Context</a:t>
              </a:r>
              <a:endParaRPr lang="en-IN" sz="2800" u="sng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CF2B36B-0582-4A6D-BF0A-623BFD72279F}"/>
                </a:ext>
              </a:extLst>
            </p:cNvPr>
            <p:cNvSpPr txBox="1"/>
            <p:nvPr/>
          </p:nvSpPr>
          <p:spPr>
            <a:xfrm>
              <a:off x="2164131" y="832393"/>
              <a:ext cx="9919714" cy="92333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Edge computing moves data processing closer to the source. In APAC, 5G expansion, smart city programs and data sovereignty laws are making edge a strategic priority across industries.</a:t>
              </a:r>
              <a:endParaRPr lang="en-IN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27572F8-A993-AEA1-A182-DA4A0A2CAFD3}"/>
              </a:ext>
            </a:extLst>
          </p:cNvPr>
          <p:cNvGrpSpPr/>
          <p:nvPr/>
        </p:nvGrpSpPr>
        <p:grpSpPr>
          <a:xfrm>
            <a:off x="-42757" y="2253821"/>
            <a:ext cx="12126602" cy="646331"/>
            <a:chOff x="-52589" y="1859145"/>
            <a:chExt cx="12126602" cy="646331"/>
          </a:xfrm>
        </p:grpSpPr>
        <p:sp>
          <p:nvSpPr>
            <p:cNvPr id="15" name="Title 1">
              <a:extLst>
                <a:ext uri="{FF2B5EF4-FFF2-40B4-BE49-F238E27FC236}">
                  <a16:creationId xmlns:a16="http://schemas.microsoft.com/office/drawing/2014/main" id="{C6680E67-EAEA-895D-9237-EE4CDDB2F7EA}"/>
                </a:ext>
              </a:extLst>
            </p:cNvPr>
            <p:cNvSpPr txBox="1">
              <a:spLocks/>
            </p:cNvSpPr>
            <p:nvPr/>
          </p:nvSpPr>
          <p:spPr>
            <a:xfrm>
              <a:off x="-52589" y="1859145"/>
              <a:ext cx="1826471" cy="41691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kern="1200" cap="all" baseline="0">
                  <a:blipFill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tile tx="6350" ty="-127000" sx="65000" sy="64000" flip="none" algn="tl"/>
                  </a:blip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2800" u="sng" dirty="0"/>
                <a:t>Market Size</a:t>
              </a:r>
              <a:endParaRPr lang="en-IN" sz="2800" u="sng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3930000-0AFE-BCB0-B9B2-E35A2F041200}"/>
                </a:ext>
              </a:extLst>
            </p:cNvPr>
            <p:cNvSpPr txBox="1"/>
            <p:nvPr/>
          </p:nvSpPr>
          <p:spPr>
            <a:xfrm>
              <a:off x="2173963" y="1859145"/>
              <a:ext cx="9900050" cy="646331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Global market : $168.40B in 2025 </a:t>
              </a:r>
              <a:r>
                <a:rPr lang="en-US" dirty="0">
                  <a:sym typeface="Wingdings" panose="05000000000000000000" pitchFamily="2" charset="2"/>
                </a:rPr>
                <a:t> 248.96B by 2030 at 8.1% CAGR, APAC is the fastest growing region at 10.5% CAGR, estimated at $44-$47B in 2025.</a:t>
              </a:r>
              <a:endParaRPr lang="en-IN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DD3E78E-A7AC-BD50-8FFD-FD7255419DEC}"/>
              </a:ext>
            </a:extLst>
          </p:cNvPr>
          <p:cNvGrpSpPr/>
          <p:nvPr/>
        </p:nvGrpSpPr>
        <p:grpSpPr>
          <a:xfrm>
            <a:off x="-52589" y="3185342"/>
            <a:ext cx="12156098" cy="792814"/>
            <a:chOff x="-52589" y="2773443"/>
            <a:chExt cx="12156098" cy="792814"/>
          </a:xfrm>
        </p:grpSpPr>
        <p:sp>
          <p:nvSpPr>
            <p:cNvPr id="13" name="Title 1">
              <a:extLst>
                <a:ext uri="{FF2B5EF4-FFF2-40B4-BE49-F238E27FC236}">
                  <a16:creationId xmlns:a16="http://schemas.microsoft.com/office/drawing/2014/main" id="{C18121E1-BA0F-64DE-EB87-02464B7F69CC}"/>
                </a:ext>
              </a:extLst>
            </p:cNvPr>
            <p:cNvSpPr txBox="1">
              <a:spLocks/>
            </p:cNvSpPr>
            <p:nvPr/>
          </p:nvSpPr>
          <p:spPr>
            <a:xfrm>
              <a:off x="-52589" y="2783135"/>
              <a:ext cx="2015614" cy="78312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kern="1200" cap="all" baseline="0">
                  <a:blipFill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tile tx="6350" ty="-127000" sx="65000" sy="64000" flip="none" algn="tl"/>
                  </a:blip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n-US" sz="2800" u="sng" dirty="0"/>
                <a:t>KEY SEGMENTS </a:t>
              </a:r>
            </a:p>
            <a:p>
              <a:pPr>
                <a:lnSpc>
                  <a:spcPct val="100000"/>
                </a:lnSpc>
              </a:pPr>
              <a:r>
                <a:rPr lang="en-US" sz="2800" u="sng" dirty="0"/>
                <a:t>&amp; COUNTRIES</a:t>
              </a:r>
              <a:endParaRPr lang="en-IN" sz="2800" u="sng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4AA3BA2-1068-E4A7-95B2-290C7A30D830}"/>
                </a:ext>
              </a:extLst>
            </p:cNvPr>
            <p:cNvSpPr txBox="1"/>
            <p:nvPr/>
          </p:nvSpPr>
          <p:spPr>
            <a:xfrm>
              <a:off x="2183795" y="2773443"/>
              <a:ext cx="9919714" cy="646331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Top verticals: Manufacturing IOT, 5G MEC, Smart Cities. China leads in scale. India and SEA lead in growth. Japan &amp; South Korea lead in 5G-MEC maturity.</a:t>
              </a:r>
              <a:endParaRPr lang="en-IN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0A4548D-6BAE-11C9-A071-8A9EA2EF2DE2}"/>
              </a:ext>
            </a:extLst>
          </p:cNvPr>
          <p:cNvGrpSpPr/>
          <p:nvPr/>
        </p:nvGrpSpPr>
        <p:grpSpPr>
          <a:xfrm>
            <a:off x="-52589" y="4352525"/>
            <a:ext cx="12188797" cy="871731"/>
            <a:chOff x="-52589" y="4073334"/>
            <a:chExt cx="12188797" cy="871731"/>
          </a:xfrm>
        </p:grpSpPr>
        <p:sp>
          <p:nvSpPr>
            <p:cNvPr id="14" name="Title 1">
              <a:extLst>
                <a:ext uri="{FF2B5EF4-FFF2-40B4-BE49-F238E27FC236}">
                  <a16:creationId xmlns:a16="http://schemas.microsoft.com/office/drawing/2014/main" id="{599E7F3D-8698-AE15-CC1D-BBA8A6668D6F}"/>
                </a:ext>
              </a:extLst>
            </p:cNvPr>
            <p:cNvSpPr txBox="1">
              <a:spLocks/>
            </p:cNvSpPr>
            <p:nvPr/>
          </p:nvSpPr>
          <p:spPr>
            <a:xfrm>
              <a:off x="-52589" y="4073334"/>
              <a:ext cx="1779639" cy="87173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kern="1200" cap="all" baseline="0">
                  <a:blipFill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tile tx="6350" ty="-127000" sx="65000" sy="64000" flip="none" algn="tl"/>
                  </a:blip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2800" u="sng" dirty="0"/>
                <a:t>COMPETITIVE </a:t>
              </a:r>
            </a:p>
            <a:p>
              <a:r>
                <a:rPr lang="en-US" sz="2800" u="sng" dirty="0"/>
                <a:t>LANDSCAPE</a:t>
              </a:r>
              <a:endParaRPr lang="en-IN" sz="2800" u="sng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16CD7F4-8C44-AE39-DD81-670586273073}"/>
                </a:ext>
              </a:extLst>
            </p:cNvPr>
            <p:cNvSpPr txBox="1"/>
            <p:nvPr/>
          </p:nvSpPr>
          <p:spPr>
            <a:xfrm>
              <a:off x="2216494" y="4160837"/>
              <a:ext cx="9919714" cy="646331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Three tiers: </a:t>
              </a:r>
              <a:r>
                <a:rPr lang="en-US" dirty="0" err="1"/>
                <a:t>Hyperscalers</a:t>
              </a:r>
              <a:r>
                <a:rPr lang="en-US" dirty="0"/>
                <a:t>(AWS, Azure, Alibaba) on scale – </a:t>
              </a:r>
              <a:r>
                <a:rPr lang="en-US" dirty="0" err="1"/>
                <a:t>Telcoms</a:t>
              </a:r>
              <a:r>
                <a:rPr lang="en-US" dirty="0"/>
                <a:t>(Jio, Singtel, SoftBank) on proximity, - Pure-play(Cloudflare, </a:t>
              </a:r>
              <a:r>
                <a:rPr lang="en-US" dirty="0" err="1"/>
                <a:t>Zenlayer</a:t>
              </a:r>
              <a:r>
                <a:rPr lang="en-US" dirty="0"/>
                <a:t>) on specialization</a:t>
              </a:r>
              <a:endParaRPr lang="en-IN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60B5285-F98D-FA7E-BC7D-DC832072AB47}"/>
              </a:ext>
            </a:extLst>
          </p:cNvPr>
          <p:cNvGrpSpPr/>
          <p:nvPr/>
        </p:nvGrpSpPr>
        <p:grpSpPr>
          <a:xfrm>
            <a:off x="-52589" y="5548231"/>
            <a:ext cx="12156098" cy="668594"/>
            <a:chOff x="-52589" y="5548231"/>
            <a:chExt cx="12156098" cy="668594"/>
          </a:xfrm>
        </p:grpSpPr>
        <p:sp>
          <p:nvSpPr>
            <p:cNvPr id="16" name="Title 1">
              <a:extLst>
                <a:ext uri="{FF2B5EF4-FFF2-40B4-BE49-F238E27FC236}">
                  <a16:creationId xmlns:a16="http://schemas.microsoft.com/office/drawing/2014/main" id="{BB5393E8-F4BE-7042-2E2F-7CE2745D930B}"/>
                </a:ext>
              </a:extLst>
            </p:cNvPr>
            <p:cNvSpPr txBox="1">
              <a:spLocks/>
            </p:cNvSpPr>
            <p:nvPr/>
          </p:nvSpPr>
          <p:spPr>
            <a:xfrm>
              <a:off x="-52589" y="5548231"/>
              <a:ext cx="2301783" cy="66859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kern="1200" cap="all" baseline="0">
                  <a:blipFill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tile tx="6350" ty="-127000" sx="65000" sy="64000" flip="none" algn="tl"/>
                  </a:blip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2800" u="sng" dirty="0"/>
                <a:t>CORE OPPORTUNITY</a:t>
              </a:r>
              <a:endParaRPr lang="en-IN" sz="2800" u="sng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D0A0661-3EFA-69AC-F592-CBB7B19A5829}"/>
                </a:ext>
              </a:extLst>
            </p:cNvPr>
            <p:cNvSpPr txBox="1"/>
            <p:nvPr/>
          </p:nvSpPr>
          <p:spPr>
            <a:xfrm>
              <a:off x="2216494" y="5548231"/>
              <a:ext cx="9887015" cy="646331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Telcom partnerships, manufacturing edge in India &amp; South Korea and smart city contracts in SEA. Lead with services – growing at 13.3% CAGR – not hardware.</a:t>
              </a:r>
              <a:endParaRPr lang="en-IN" dirty="0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128DEE34-9940-FD8F-373A-F7241BBEAD89}"/>
              </a:ext>
            </a:extLst>
          </p:cNvPr>
          <p:cNvSpPr txBox="1"/>
          <p:nvPr/>
        </p:nvSpPr>
        <p:spPr>
          <a:xfrm>
            <a:off x="-1" y="6488668"/>
            <a:ext cx="12168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Sources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MarketsandMarkets</a:t>
            </a:r>
            <a:r>
              <a:rPr lang="en-US" dirty="0">
                <a:sym typeface="Wingdings" panose="05000000000000000000" pitchFamily="2" charset="2"/>
              </a:rPr>
              <a:t> (2025), IDC, Fortune business insights </a:t>
            </a:r>
            <a:endParaRPr lang="en-IN" dirty="0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9A00BAF2-01D4-5A01-434E-1BCFA94A07CA}"/>
              </a:ext>
            </a:extLst>
          </p:cNvPr>
          <p:cNvSpPr/>
          <p:nvPr/>
        </p:nvSpPr>
        <p:spPr>
          <a:xfrm>
            <a:off x="1904033" y="3243055"/>
            <a:ext cx="220770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EF88EBC2-8B59-BFDE-E1C4-476DF9F1DC43}"/>
              </a:ext>
            </a:extLst>
          </p:cNvPr>
          <p:cNvSpPr/>
          <p:nvPr/>
        </p:nvSpPr>
        <p:spPr>
          <a:xfrm>
            <a:off x="1895235" y="4453316"/>
            <a:ext cx="220770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0F212E4F-7FB4-F660-B89F-8F446569C3CF}"/>
              </a:ext>
            </a:extLst>
          </p:cNvPr>
          <p:cNvSpPr/>
          <p:nvPr/>
        </p:nvSpPr>
        <p:spPr>
          <a:xfrm>
            <a:off x="1904033" y="5615270"/>
            <a:ext cx="220770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F35562BD-255D-2EC4-274A-5651B36F9523}"/>
              </a:ext>
            </a:extLst>
          </p:cNvPr>
          <p:cNvSpPr/>
          <p:nvPr/>
        </p:nvSpPr>
        <p:spPr>
          <a:xfrm>
            <a:off x="1904033" y="2275110"/>
            <a:ext cx="220770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DFC5C750-8D49-9645-C29B-E542730D9759}"/>
              </a:ext>
            </a:extLst>
          </p:cNvPr>
          <p:cNvSpPr/>
          <p:nvPr/>
        </p:nvSpPr>
        <p:spPr>
          <a:xfrm>
            <a:off x="1895235" y="1202680"/>
            <a:ext cx="220770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3461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14619-C23E-585B-2D2B-3E9A606CD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08DF-F6AC-269C-3FBE-38892C348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978" y="40964"/>
            <a:ext cx="12191999" cy="786581"/>
          </a:xfrm>
          <a:noFill/>
        </p:spPr>
        <p:style>
          <a:lnRef idx="0">
            <a:scrgbClr r="0" g="0" b="0"/>
          </a:lnRef>
          <a:fillRef idx="1002">
            <a:schemeClr val="dk2"/>
          </a:fillRef>
          <a:effectRef idx="0">
            <a:scrgbClr r="0" g="0" b="0"/>
          </a:effectRef>
          <a:fontRef idx="major"/>
        </p:style>
        <p:txBody>
          <a:bodyPr>
            <a:normAutofit fontScale="90000"/>
          </a:bodyPr>
          <a:lstStyle/>
          <a:p>
            <a:pPr algn="ctr"/>
            <a:r>
              <a:rPr lang="en-US" u="sng" dirty="0"/>
              <a:t>Edge Computing Why it matter now &amp; in future</a:t>
            </a:r>
            <a:endParaRPr lang="en-IN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88062E-02CC-805F-8E01-3CC441D4ADC8}"/>
              </a:ext>
            </a:extLst>
          </p:cNvPr>
          <p:cNvSpPr txBox="1"/>
          <p:nvPr/>
        </p:nvSpPr>
        <p:spPr>
          <a:xfrm>
            <a:off x="776749" y="1262216"/>
            <a:ext cx="114152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Edge computing means processing data where it is created (like a smart device or local server) instead of sending all the raw data far away to a centralized cloud. This prevents delays, saves bandwidth and allows for instant-decision making.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7BE72823-3B1F-5B70-D6F6-071573747BAB}"/>
              </a:ext>
            </a:extLst>
          </p:cNvPr>
          <p:cNvSpPr/>
          <p:nvPr/>
        </p:nvSpPr>
        <p:spPr>
          <a:xfrm>
            <a:off x="193723" y="1452809"/>
            <a:ext cx="521106" cy="621908"/>
          </a:xfrm>
          <a:prstGeom prst="rightArrow">
            <a:avLst/>
          </a:prstGeom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7138B6-EB8F-A136-0E17-4D1BF74BC4CE}"/>
              </a:ext>
            </a:extLst>
          </p:cNvPr>
          <p:cNvSpPr txBox="1"/>
          <p:nvPr/>
        </p:nvSpPr>
        <p:spPr>
          <a:xfrm>
            <a:off x="776748" y="2521665"/>
            <a:ext cx="96946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Why it matters now?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C89AA6-E394-1B80-06D0-142EC0A3AE51}"/>
              </a:ext>
            </a:extLst>
          </p:cNvPr>
          <p:cNvSpPr txBox="1"/>
          <p:nvPr/>
        </p:nvSpPr>
        <p:spPr>
          <a:xfrm>
            <a:off x="845574" y="4549478"/>
            <a:ext cx="96946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Why it matters for future?</a:t>
            </a:r>
          </a:p>
        </p:txBody>
      </p:sp>
      <p:sp>
        <p:nvSpPr>
          <p:cNvPr id="7" name="Action Button: Help 6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2DD5ACBE-8ABC-ABCE-3C94-BDF23B9FEFE3}"/>
              </a:ext>
            </a:extLst>
          </p:cNvPr>
          <p:cNvSpPr/>
          <p:nvPr/>
        </p:nvSpPr>
        <p:spPr>
          <a:xfrm>
            <a:off x="206477" y="2554571"/>
            <a:ext cx="481781" cy="334297"/>
          </a:xfrm>
          <a:prstGeom prst="actionButtonHelp">
            <a:avLst/>
          </a:prstGeom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ction Button: Help 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9E53E86-4109-1B47-F666-5493696EAFDB}"/>
              </a:ext>
            </a:extLst>
          </p:cNvPr>
          <p:cNvSpPr/>
          <p:nvPr/>
        </p:nvSpPr>
        <p:spPr>
          <a:xfrm>
            <a:off x="206477" y="4582384"/>
            <a:ext cx="481781" cy="334297"/>
          </a:xfrm>
          <a:prstGeom prst="actionButtonHelp">
            <a:avLst/>
          </a:prstGeom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B45792-F27A-1759-1CD1-3F080936C08E}"/>
              </a:ext>
            </a:extLst>
          </p:cNvPr>
          <p:cNvSpPr txBox="1"/>
          <p:nvPr/>
        </p:nvSpPr>
        <p:spPr>
          <a:xfrm>
            <a:off x="707920" y="2983068"/>
            <a:ext cx="116512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/>
              <a:t>Speed up data : Eliminates the lag by processing information instantly where it is collected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/>
              <a:t>Saves money : Reduces internet bandwidth cost by keeping raw data locally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/>
              <a:t>Works offline : Keeps the machine running even id the internet drops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/>
              <a:t>Protects Privacy : Shields sensitive data by avoiding constant cloud transmissions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3BA26B-F25A-4C0D-CE8F-01BCB8A078C9}"/>
              </a:ext>
            </a:extLst>
          </p:cNvPr>
          <p:cNvSpPr txBox="1"/>
          <p:nvPr/>
        </p:nvSpPr>
        <p:spPr>
          <a:xfrm>
            <a:off x="688258" y="5094237"/>
            <a:ext cx="1078352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/>
              <a:t>Drive smart cities : Manages real-time traffic grid and emergency responses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/>
              <a:t>Upgrades robotics : Automates factory floors with predictive maintenance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/>
              <a:t>Saves lives : Delivers real-time health alerts through smart medical wearables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/>
              <a:t>Powers self-driving cars : Enables instantaneous braking and navigation decisions</a:t>
            </a:r>
          </a:p>
        </p:txBody>
      </p:sp>
    </p:spTree>
    <p:extLst>
      <p:ext uri="{BB962C8B-B14F-4D97-AF65-F5344CB8AC3E}">
        <p14:creationId xmlns:p14="http://schemas.microsoft.com/office/powerpoint/2010/main" val="3191104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0754AF-DF6E-71D3-F4F7-24B06DB31ED6}"/>
              </a:ext>
            </a:extLst>
          </p:cNvPr>
          <p:cNvSpPr txBox="1"/>
          <p:nvPr/>
        </p:nvSpPr>
        <p:spPr>
          <a:xfrm>
            <a:off x="0" y="-73741"/>
            <a:ext cx="12192000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900" u="sng" cap="all" dirty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  <a:t>Market Size — current and forecast</a:t>
            </a:r>
            <a:endParaRPr lang="en-IN" sz="4900" u="sng" cap="all" dirty="0">
              <a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tile tx="6350" ty="-127000" sx="65000" sy="64000" flip="none" algn="tl"/>
              </a:blip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272814-BBC3-4D57-DAC9-F0D7E668000E}"/>
              </a:ext>
            </a:extLst>
          </p:cNvPr>
          <p:cNvSpPr txBox="1"/>
          <p:nvPr/>
        </p:nvSpPr>
        <p:spPr>
          <a:xfrm>
            <a:off x="5358581" y="1342997"/>
            <a:ext cx="6725264" cy="10156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Global edge computing market stands at $168.40 billion in 2025, projected to reach $248.96 billion by 2030, growing at a CAGR of 8.1%</a:t>
            </a: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5C1E135D-6A1D-E96C-8634-AEAEC114EE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6064997"/>
              </p:ext>
            </p:extLst>
          </p:nvPr>
        </p:nvGraphicFramePr>
        <p:xfrm>
          <a:off x="78658" y="1114022"/>
          <a:ext cx="5176247" cy="56505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581398" imgH="2751099" progId="Excel.Sheet.12">
                  <p:embed/>
                </p:oleObj>
              </mc:Choice>
              <mc:Fallback>
                <p:oleObj name="Worksheet" r:id="rId3" imgW="4581398" imgH="275109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658" y="1114022"/>
                        <a:ext cx="5176247" cy="5650571"/>
                      </a:xfrm>
                      <a:prstGeom prst="rect">
                        <a:avLst/>
                      </a:prstGeom>
                      <a:ln w="28575"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E5F4738-955E-9CA6-8AC9-A329BB644F8E}"/>
              </a:ext>
            </a:extLst>
          </p:cNvPr>
          <p:cNvSpPr txBox="1"/>
          <p:nvPr/>
        </p:nvSpPr>
        <p:spPr>
          <a:xfrm>
            <a:off x="5358581" y="2847194"/>
            <a:ext cx="6725264" cy="120032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APAC Market size &amp; APAC CAGR is the fastest-growing region, estimated at 44-47 billion in 2025 (approx. 26-28% global), expanding at a CAGR of 10.5%  outpacing the global average by 2.4% points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F4819F-9072-6BEA-5674-0D4D552B20DB}"/>
              </a:ext>
            </a:extLst>
          </p:cNvPr>
          <p:cNvSpPr txBox="1"/>
          <p:nvPr/>
        </p:nvSpPr>
        <p:spPr>
          <a:xfrm>
            <a:off x="5358581" y="4578903"/>
            <a:ext cx="6725264" cy="163121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/>
              <a:t>2030 forecast The global forecast to add </a:t>
            </a:r>
            <a:r>
              <a:rPr lang="en-US" sz="2000" dirty="0" err="1"/>
              <a:t>approx</a:t>
            </a:r>
            <a:r>
              <a:rPr lang="en-US" sz="2000" dirty="0"/>
              <a:t> 80 billion in absolute value between 2025 and 2030. APAC, growing faster than any other region as 5G infrastructure matures and enterprise edge adoption accelerates across China, India and Southeast Asia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40354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91342-9C32-6ECD-6F70-3514441AE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7FC4A8-0DB1-8F72-EC0E-F67563370F18}"/>
              </a:ext>
            </a:extLst>
          </p:cNvPr>
          <p:cNvSpPr txBox="1"/>
          <p:nvPr/>
        </p:nvSpPr>
        <p:spPr>
          <a:xfrm>
            <a:off x="0" y="-117988"/>
            <a:ext cx="12192000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900" u="sng" cap="all" dirty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  <a:t>Segment Breakdown growing verticals </a:t>
            </a:r>
            <a:endParaRPr lang="en-IN" sz="4900" u="sng" cap="all" dirty="0">
              <a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tile tx="6350" ty="-127000" sx="65000" sy="64000" flip="none" algn="tl"/>
              </a:blip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B6DA6223-801C-F074-B768-D24F27FDC2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5060538"/>
              </p:ext>
            </p:extLst>
          </p:nvPr>
        </p:nvGraphicFramePr>
        <p:xfrm>
          <a:off x="0" y="719666"/>
          <a:ext cx="5742038" cy="61383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D433111-9817-449A-9BF4-B751132CE2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5666816"/>
              </p:ext>
            </p:extLst>
          </p:nvPr>
        </p:nvGraphicFramePr>
        <p:xfrm>
          <a:off x="5368414" y="835741"/>
          <a:ext cx="6803922" cy="603774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267974">
                  <a:extLst>
                    <a:ext uri="{9D8B030D-6E8A-4147-A177-3AD203B41FA5}">
                      <a16:colId xmlns:a16="http://schemas.microsoft.com/office/drawing/2014/main" val="282194589"/>
                    </a:ext>
                  </a:extLst>
                </a:gridCol>
                <a:gridCol w="2267974">
                  <a:extLst>
                    <a:ext uri="{9D8B030D-6E8A-4147-A177-3AD203B41FA5}">
                      <a16:colId xmlns:a16="http://schemas.microsoft.com/office/drawing/2014/main" val="138624312"/>
                    </a:ext>
                  </a:extLst>
                </a:gridCol>
                <a:gridCol w="2267974">
                  <a:extLst>
                    <a:ext uri="{9D8B030D-6E8A-4147-A177-3AD203B41FA5}">
                      <a16:colId xmlns:a16="http://schemas.microsoft.com/office/drawing/2014/main" val="2460973495"/>
                    </a:ext>
                  </a:extLst>
                </a:gridCol>
              </a:tblGrid>
              <a:tr h="49272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Vertical / Segment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</a:endParaRPr>
                    </a:p>
                  </a:txBody>
                  <a:tcPr marL="2638" marR="2638" marT="2638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Growth Drivers &amp; Edge Application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</a:endParaRPr>
                    </a:p>
                  </a:txBody>
                  <a:tcPr marL="2638" marR="2638" marT="2638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Reliable Industry Source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</a:endParaRPr>
                    </a:p>
                  </a:txBody>
                  <a:tcPr marL="2638" marR="2638" marT="2638" marB="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717212"/>
                  </a:ext>
                </a:extLst>
              </a:tr>
              <a:tr h="744623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Manufacturing &amp; Industrial (</a:t>
                      </a:r>
                      <a:r>
                        <a:rPr lang="en-IN" sz="1600" u="none" strike="noStrike" dirty="0" err="1">
                          <a:effectLst/>
                        </a:rPr>
                        <a:t>IIoT</a:t>
                      </a:r>
                      <a:r>
                        <a:rPr lang="en-IN" sz="1600" u="none" strike="noStrike" dirty="0">
                          <a:effectLst/>
                        </a:rPr>
                        <a:t>)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</a:endParaRPr>
                    </a:p>
                  </a:txBody>
                  <a:tcPr marL="2638" marR="2638" marT="2638" marB="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Predictive maintenance and robotic automation.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</a:endParaRPr>
                    </a:p>
                  </a:txBody>
                  <a:tcPr marL="2638" marR="2638" marT="2638" marB="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600" u="none" strike="noStrike" dirty="0" err="1">
                          <a:effectLst/>
                        </a:rPr>
                        <a:t>MarketsandMarkets</a:t>
                      </a:r>
                      <a:r>
                        <a:rPr lang="en-IN" sz="1600" u="none" strike="noStrike" dirty="0">
                          <a:effectLst/>
                        </a:rPr>
                        <a:t> / IDC Tracker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</a:endParaRPr>
                    </a:p>
                  </a:txBody>
                  <a:tcPr marL="2638" marR="2638" marT="2638" marB="0"/>
                </a:tc>
                <a:extLst>
                  <a:ext uri="{0D108BD9-81ED-4DB2-BD59-A6C34878D82A}">
                    <a16:rowId xmlns:a16="http://schemas.microsoft.com/office/drawing/2014/main" val="1751950082"/>
                  </a:ext>
                </a:extLst>
              </a:tr>
              <a:tr h="65202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VR/AR/Gaming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</a:endParaRPr>
                    </a:p>
                  </a:txBody>
                  <a:tcPr marL="2638" marR="2638" marT="2638" marB="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Low-latency cloud gaming and rendering.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</a:endParaRPr>
                    </a:p>
                  </a:txBody>
                  <a:tcPr marL="2638" marR="2638" marT="2638" marB="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User-Provided Benchmark / GSMA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</a:endParaRPr>
                    </a:p>
                  </a:txBody>
                  <a:tcPr marL="2638" marR="2638" marT="2638" marB="0"/>
                </a:tc>
                <a:extLst>
                  <a:ext uri="{0D108BD9-81ED-4DB2-BD59-A6C34878D82A}">
                    <a16:rowId xmlns:a16="http://schemas.microsoft.com/office/drawing/2014/main" val="3835482337"/>
                  </a:ext>
                </a:extLst>
              </a:tr>
              <a:tr h="65202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Energy &amp; Utilities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</a:endParaRPr>
                    </a:p>
                  </a:txBody>
                  <a:tcPr marL="2638" marR="2638" marT="2638" marB="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Smart grids and real-time consumption.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</a:endParaRPr>
                    </a:p>
                  </a:txBody>
                  <a:tcPr marL="2638" marR="2638" marT="2638" marB="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Fortune Business Insights / Gartner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</a:endParaRPr>
                    </a:p>
                  </a:txBody>
                  <a:tcPr marL="2638" marR="2638" marT="2638" marB="0"/>
                </a:tc>
                <a:extLst>
                  <a:ext uri="{0D108BD9-81ED-4DB2-BD59-A6C34878D82A}">
                    <a16:rowId xmlns:a16="http://schemas.microsoft.com/office/drawing/2014/main" val="2759490091"/>
                  </a:ext>
                </a:extLst>
              </a:tr>
              <a:tr h="737763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Services (Managed/Professional)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</a:endParaRPr>
                    </a:p>
                  </a:txBody>
                  <a:tcPr marL="2638" marR="2638" marT="2638" marB="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Edge deployment and network management.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</a:endParaRPr>
                    </a:p>
                  </a:txBody>
                  <a:tcPr marL="2638" marR="2638" marT="2638" marB="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User-Provided Benchmark / IDC Tracker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</a:endParaRPr>
                    </a:p>
                  </a:txBody>
                  <a:tcPr marL="2638" marR="2638" marT="2638" marB="0"/>
                </a:tc>
                <a:extLst>
                  <a:ext uri="{0D108BD9-81ED-4DB2-BD59-A6C34878D82A}">
                    <a16:rowId xmlns:a16="http://schemas.microsoft.com/office/drawing/2014/main" val="1442927045"/>
                  </a:ext>
                </a:extLst>
              </a:tr>
              <a:tr h="65202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Healthcare &amp; Life Sciences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</a:endParaRPr>
                    </a:p>
                  </a:txBody>
                  <a:tcPr marL="2638" marR="2638" marT="2638" marB="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Remote monitoring and localized diagnostics.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</a:endParaRPr>
                    </a:p>
                  </a:txBody>
                  <a:tcPr marL="2638" marR="2638" marT="2638" marB="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MarketsandMarkets / Frost &amp; Sullivan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</a:endParaRPr>
                    </a:p>
                  </a:txBody>
                  <a:tcPr marL="2638" marR="2638" marT="2638" marB="0"/>
                </a:tc>
                <a:extLst>
                  <a:ext uri="{0D108BD9-81ED-4DB2-BD59-A6C34878D82A}">
                    <a16:rowId xmlns:a16="http://schemas.microsoft.com/office/drawing/2014/main" val="3032146909"/>
                  </a:ext>
                </a:extLst>
              </a:tr>
              <a:tr h="652027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Transportation &amp; Logistics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</a:endParaRPr>
                    </a:p>
                  </a:txBody>
                  <a:tcPr marL="2638" marR="2638" marT="2638" marB="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Fleet tracking and autonomous logistics.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</a:endParaRPr>
                    </a:p>
                  </a:txBody>
                  <a:tcPr marL="2638" marR="2638" marT="2638" marB="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Grand View Research / IDC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</a:endParaRPr>
                    </a:p>
                  </a:txBody>
                  <a:tcPr marL="2638" marR="2638" marT="2638" marB="0"/>
                </a:tc>
                <a:extLst>
                  <a:ext uri="{0D108BD9-81ED-4DB2-BD59-A6C34878D82A}">
                    <a16:rowId xmlns:a16="http://schemas.microsoft.com/office/drawing/2014/main" val="3559628286"/>
                  </a:ext>
                </a:extLst>
              </a:tr>
              <a:tr h="67903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Retail &amp; E-commerce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</a:endParaRPr>
                    </a:p>
                  </a:txBody>
                  <a:tcPr marL="2638" marR="2638" marT="2638" marB="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Inventory tracking and video analytics.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</a:endParaRPr>
                    </a:p>
                  </a:txBody>
                  <a:tcPr marL="2638" marR="2638" marT="2638" marB="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Fortune Business Insights / ARC Advisory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</a:endParaRPr>
                    </a:p>
                  </a:txBody>
                  <a:tcPr marL="2638" marR="2638" marT="2638" marB="0"/>
                </a:tc>
                <a:extLst>
                  <a:ext uri="{0D108BD9-81ED-4DB2-BD59-A6C34878D82A}">
                    <a16:rowId xmlns:a16="http://schemas.microsoft.com/office/drawing/2014/main" val="1616590960"/>
                  </a:ext>
                </a:extLst>
              </a:tr>
              <a:tr h="77548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Others (Public Infra, BFSI)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</a:endParaRPr>
                    </a:p>
                  </a:txBody>
                  <a:tcPr marL="2638" marR="2638" marT="2638" marB="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Smart city surveillance and secure finance.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</a:endParaRPr>
                    </a:p>
                  </a:txBody>
                  <a:tcPr marL="2638" marR="2638" marT="2638" marB="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1600" u="none" strike="noStrike" dirty="0" err="1">
                          <a:effectLst/>
                        </a:rPr>
                        <a:t>MarketsandMarkets</a:t>
                      </a:r>
                      <a:r>
                        <a:rPr lang="en-IN" sz="1600" u="none" strike="noStrike" dirty="0">
                          <a:effectLst/>
                        </a:rPr>
                        <a:t> / Gartner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Rockwell" panose="02060603020205020403" pitchFamily="18" charset="0"/>
                      </a:endParaRPr>
                    </a:p>
                  </a:txBody>
                  <a:tcPr marL="2638" marR="2638" marT="2638" marB="0"/>
                </a:tc>
                <a:extLst>
                  <a:ext uri="{0D108BD9-81ED-4DB2-BD59-A6C34878D82A}">
                    <a16:rowId xmlns:a16="http://schemas.microsoft.com/office/drawing/2014/main" val="2477270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9197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7FF07-1830-805F-B9E9-477EB99BF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0FFA3A-2551-7D6B-BE7C-5D33035BC8F2}"/>
              </a:ext>
            </a:extLst>
          </p:cNvPr>
          <p:cNvSpPr txBox="1"/>
          <p:nvPr/>
        </p:nvSpPr>
        <p:spPr>
          <a:xfrm>
            <a:off x="0" y="-108154"/>
            <a:ext cx="12191999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900" u="sng" cap="all" dirty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  <a:t>Country Spotlight</a:t>
            </a:r>
            <a:endParaRPr lang="en-IN" sz="4900" u="sng" cap="all" dirty="0">
              <a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tile tx="6350" ty="-127000" sx="65000" sy="64000" flip="none" algn="tl"/>
              </a:blip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41B0522-6F1C-96EA-9846-A0C0904F8A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324906"/>
              </p:ext>
            </p:extLst>
          </p:nvPr>
        </p:nvGraphicFramePr>
        <p:xfrm>
          <a:off x="0" y="738232"/>
          <a:ext cx="12191996" cy="6119769"/>
        </p:xfrm>
        <a:graphic>
          <a:graphicData uri="http://schemas.openxmlformats.org/drawingml/2006/table">
            <a:tbl>
              <a:tblPr/>
              <a:tblGrid>
                <a:gridCol w="1697897">
                  <a:extLst>
                    <a:ext uri="{9D8B030D-6E8A-4147-A177-3AD203B41FA5}">
                      <a16:colId xmlns:a16="http://schemas.microsoft.com/office/drawing/2014/main" val="2396482507"/>
                    </a:ext>
                  </a:extLst>
                </a:gridCol>
                <a:gridCol w="3023352">
                  <a:extLst>
                    <a:ext uri="{9D8B030D-6E8A-4147-A177-3AD203B41FA5}">
                      <a16:colId xmlns:a16="http://schemas.microsoft.com/office/drawing/2014/main" val="1120041379"/>
                    </a:ext>
                  </a:extLst>
                </a:gridCol>
                <a:gridCol w="4398102">
                  <a:extLst>
                    <a:ext uri="{9D8B030D-6E8A-4147-A177-3AD203B41FA5}">
                      <a16:colId xmlns:a16="http://schemas.microsoft.com/office/drawing/2014/main" val="2915541138"/>
                    </a:ext>
                  </a:extLst>
                </a:gridCol>
                <a:gridCol w="3072645">
                  <a:extLst>
                    <a:ext uri="{9D8B030D-6E8A-4147-A177-3AD203B41FA5}">
                      <a16:colId xmlns:a16="http://schemas.microsoft.com/office/drawing/2014/main" val="2073651902"/>
                    </a:ext>
                  </a:extLst>
                </a:gridCol>
              </a:tblGrid>
              <a:tr h="707236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en-IN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Country</a:t>
                      </a:r>
                    </a:p>
                  </a:txBody>
                  <a:tcPr marL="41172" marR="41172" marT="41172" marB="4117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en-IN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 Driver &amp; Requirement</a:t>
                      </a:r>
                    </a:p>
                  </a:txBody>
                  <a:tcPr marL="41172" marR="41172" marT="41172" marB="4117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en-IN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Main Regional Advantage</a:t>
                      </a:r>
                    </a:p>
                  </a:txBody>
                  <a:tcPr marL="41172" marR="41172" marT="41172" marB="4117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en-IN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Primary Focus Verticals</a:t>
                      </a:r>
                    </a:p>
                  </a:txBody>
                  <a:tcPr marL="41172" marR="41172" marT="41172" marB="4117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5035327"/>
                  </a:ext>
                </a:extLst>
              </a:tr>
              <a:tr h="940450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en-IN" sz="18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China</a:t>
                      </a:r>
                    </a:p>
                  </a:txBody>
                  <a:tcPr marL="41172" marR="41172" marT="41172" marB="4117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en-US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Smart factory automation and 5G scaling</a:t>
                      </a:r>
                    </a:p>
                  </a:txBody>
                  <a:tcPr marL="41172" marR="41172" marT="41172" marB="4117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en-US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Massive industrial scale and state-backed infrastructure funding</a:t>
                      </a:r>
                    </a:p>
                  </a:txBody>
                  <a:tcPr marL="41172" marR="41172" marT="41172" marB="4117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en-IN" sz="18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Manufacturing &amp; Smart Cities</a:t>
                      </a:r>
                    </a:p>
                  </a:txBody>
                  <a:tcPr marL="41172" marR="41172" marT="41172" marB="4117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9219711"/>
                  </a:ext>
                </a:extLst>
              </a:tr>
              <a:tr h="1399199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en-IN" sz="18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Japan</a:t>
                      </a:r>
                    </a:p>
                  </a:txBody>
                  <a:tcPr marL="41172" marR="41172" marT="41172" marB="4117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en-US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Aging workforce automation and hyper-connected urban systems</a:t>
                      </a:r>
                    </a:p>
                  </a:txBody>
                  <a:tcPr marL="41172" marR="41172" marT="41172" marB="4117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en-US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World-class robotics engineering and high density of advanced fiber/5G networks</a:t>
                      </a:r>
                    </a:p>
                  </a:txBody>
                  <a:tcPr marL="41172" marR="41172" marT="41172" marB="4117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en-IN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Industrial </a:t>
                      </a:r>
                      <a:r>
                        <a:rPr lang="en-IN" sz="18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IIoT</a:t>
                      </a:r>
                      <a:r>
                        <a:rPr lang="en-IN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Healthcare &amp; Automotive</a:t>
                      </a:r>
                    </a:p>
                  </a:txBody>
                  <a:tcPr marL="41172" marR="41172" marT="41172" marB="4117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8298569"/>
                  </a:ext>
                </a:extLst>
              </a:tr>
              <a:tr h="1015336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en-IN" sz="18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India</a:t>
                      </a:r>
                    </a:p>
                  </a:txBody>
                  <a:tcPr marL="41172" marR="41172" marT="41172" marB="4117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en-US" sz="18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Rapid mobile data growth and rural digitization</a:t>
                      </a:r>
                    </a:p>
                  </a:txBody>
                  <a:tcPr marL="41172" marR="41172" marT="41172" marB="4117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en-US" sz="18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Huge tech talent pool and expanding hyper-scale data centers</a:t>
                      </a:r>
                    </a:p>
                  </a:txBody>
                  <a:tcPr marL="41172" marR="41172" marT="41172" marB="4117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en-IN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Telecom, Retail &amp; BFSI</a:t>
                      </a:r>
                    </a:p>
                  </a:txBody>
                  <a:tcPr marL="41172" marR="41172" marT="41172" marB="4117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0479653"/>
                  </a:ext>
                </a:extLst>
              </a:tr>
              <a:tr h="1046644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en-IN" sz="18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South Korea</a:t>
                      </a:r>
                    </a:p>
                  </a:txBody>
                  <a:tcPr marL="41172" marR="41172" marT="41172" marB="4117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en-US" sz="18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Ultra-low latency demands and commercial 5G</a:t>
                      </a:r>
                    </a:p>
                  </a:txBody>
                  <a:tcPr marL="41172" marR="41172" marT="41172" marB="4117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en-US" sz="18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Global leadership in electronics, robotics, and gaming tech</a:t>
                      </a:r>
                    </a:p>
                  </a:txBody>
                  <a:tcPr marL="41172" marR="41172" marT="41172" marB="4117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en-IN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Gaming, VR/AR &amp; Smart Factories</a:t>
                      </a:r>
                    </a:p>
                  </a:txBody>
                  <a:tcPr marL="41172" marR="41172" marT="41172" marB="4117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6884629"/>
                  </a:ext>
                </a:extLst>
              </a:tr>
              <a:tr h="1010904"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en-IN" sz="18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Australia</a:t>
                      </a:r>
                    </a:p>
                  </a:txBody>
                  <a:tcPr marL="41172" marR="41172" marT="41172" marB="4117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en-US" sz="18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Decentralised operations across remote terrain</a:t>
                      </a:r>
                    </a:p>
                  </a:txBody>
                  <a:tcPr marL="41172" marR="41172" marT="41172" marB="4117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en-US" sz="180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Highly mature cloud enterprise market and strict privacy compliance</a:t>
                      </a:r>
                    </a:p>
                  </a:txBody>
                  <a:tcPr marL="41172" marR="41172" marT="41172" marB="4117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>
                        <a:buNone/>
                      </a:pPr>
                      <a:r>
                        <a:rPr lang="en-IN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Mining, Energy &amp; Utilities</a:t>
                      </a:r>
                    </a:p>
                  </a:txBody>
                  <a:tcPr marL="41172" marR="41172" marT="41172" marB="4117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3402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0061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B90C0-82C2-D3C6-537D-D66E3B79A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D5FF52-5DB7-8442-8A49-8B385CD4C419}"/>
              </a:ext>
            </a:extLst>
          </p:cNvPr>
          <p:cNvSpPr txBox="1"/>
          <p:nvPr/>
        </p:nvSpPr>
        <p:spPr>
          <a:xfrm>
            <a:off x="-36274" y="-19712"/>
            <a:ext cx="12192000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900" u="sng" cap="all" dirty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  <a:t>Competitive Landscape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3CAC14C-F45A-456C-EC73-C238829AC026}"/>
              </a:ext>
            </a:extLst>
          </p:cNvPr>
          <p:cNvGrpSpPr/>
          <p:nvPr/>
        </p:nvGrpSpPr>
        <p:grpSpPr>
          <a:xfrm>
            <a:off x="422788" y="1759974"/>
            <a:ext cx="4060722" cy="4306529"/>
            <a:chOff x="383458" y="1258529"/>
            <a:chExt cx="4060722" cy="4306529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43CD925-82A8-636F-F1B6-3E8344BDF250}"/>
                </a:ext>
              </a:extLst>
            </p:cNvPr>
            <p:cNvCxnSpPr>
              <a:cxnSpLocks/>
            </p:cNvCxnSpPr>
            <p:nvPr/>
          </p:nvCxnSpPr>
          <p:spPr>
            <a:xfrm>
              <a:off x="2281084" y="1258529"/>
              <a:ext cx="0" cy="430652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D96F626-D6E3-883B-473E-8B0776A74F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3458" y="3429000"/>
              <a:ext cx="406072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BA87017D-99E1-6F77-9B4A-692DBE3A9245}"/>
              </a:ext>
            </a:extLst>
          </p:cNvPr>
          <p:cNvSpPr txBox="1"/>
          <p:nvPr/>
        </p:nvSpPr>
        <p:spPr>
          <a:xfrm rot="5400000">
            <a:off x="3984839" y="3873595"/>
            <a:ext cx="1366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 APAC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E93F20-ED72-30D3-E56A-96CCE69025DD}"/>
              </a:ext>
            </a:extLst>
          </p:cNvPr>
          <p:cNvSpPr txBox="1"/>
          <p:nvPr/>
        </p:nvSpPr>
        <p:spPr>
          <a:xfrm rot="5400000">
            <a:off x="-449565" y="3907612"/>
            <a:ext cx="1333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Low APAC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3A8422-2DDA-FF7B-DC63-738919C0B710}"/>
              </a:ext>
            </a:extLst>
          </p:cNvPr>
          <p:cNvSpPr txBox="1"/>
          <p:nvPr/>
        </p:nvSpPr>
        <p:spPr>
          <a:xfrm>
            <a:off x="1593731" y="6100917"/>
            <a:ext cx="1630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Broad Cloud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06A70E-26CA-62A9-C59C-D5C06B03753C}"/>
              </a:ext>
            </a:extLst>
          </p:cNvPr>
          <p:cNvSpPr txBox="1"/>
          <p:nvPr/>
        </p:nvSpPr>
        <p:spPr>
          <a:xfrm>
            <a:off x="1387256" y="1390642"/>
            <a:ext cx="1866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 edge spec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00C616-4950-EAF2-FFB9-7C44EC6642FA}"/>
              </a:ext>
            </a:extLst>
          </p:cNvPr>
          <p:cNvSpPr txBox="1"/>
          <p:nvPr/>
        </p:nvSpPr>
        <p:spPr>
          <a:xfrm>
            <a:off x="2453149" y="5591700"/>
            <a:ext cx="10913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Big players</a:t>
            </a:r>
          </a:p>
          <a:p>
            <a:r>
              <a:rPr lang="en-US" sz="1000" dirty="0"/>
              <a:t>Broad portfolio</a:t>
            </a:r>
            <a:endParaRPr lang="en-IN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7BBF97-5D5A-DF69-9B60-136D1CE1E6F4}"/>
              </a:ext>
            </a:extLst>
          </p:cNvPr>
          <p:cNvSpPr txBox="1"/>
          <p:nvPr/>
        </p:nvSpPr>
        <p:spPr>
          <a:xfrm>
            <a:off x="2453149" y="1794388"/>
            <a:ext cx="993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APAC-native </a:t>
            </a:r>
          </a:p>
          <a:p>
            <a:r>
              <a:rPr lang="en-US" sz="1000" dirty="0"/>
              <a:t>edge leaders</a:t>
            </a:r>
            <a:endParaRPr lang="en-IN" sz="1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3AED1D-6D0A-C1CE-ED92-B3F6FDF6F743}"/>
              </a:ext>
            </a:extLst>
          </p:cNvPr>
          <p:cNvSpPr txBox="1"/>
          <p:nvPr/>
        </p:nvSpPr>
        <p:spPr>
          <a:xfrm>
            <a:off x="616979" y="5483545"/>
            <a:ext cx="11626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Emerging regional players</a:t>
            </a:r>
            <a:endParaRPr lang="en-IN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B93F97C-5172-7B18-A2D7-29601278316A}"/>
              </a:ext>
            </a:extLst>
          </p:cNvPr>
          <p:cNvSpPr txBox="1"/>
          <p:nvPr/>
        </p:nvSpPr>
        <p:spPr>
          <a:xfrm>
            <a:off x="431074" y="1775926"/>
            <a:ext cx="11626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Specialists </a:t>
            </a:r>
          </a:p>
          <a:p>
            <a:r>
              <a:rPr lang="en-US" sz="1000" dirty="0"/>
              <a:t>Low footprints</a:t>
            </a:r>
            <a:endParaRPr lang="en-IN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7BE877-0D25-F88C-1A6E-BAC300FD2D15}"/>
              </a:ext>
            </a:extLst>
          </p:cNvPr>
          <p:cNvSpPr txBox="1"/>
          <p:nvPr/>
        </p:nvSpPr>
        <p:spPr>
          <a:xfrm>
            <a:off x="1246245" y="2545368"/>
            <a:ext cx="11626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Cloudflare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86A3FB2-7B13-20C5-756E-87FDD84B6359}"/>
              </a:ext>
            </a:extLst>
          </p:cNvPr>
          <p:cNvSpPr txBox="1"/>
          <p:nvPr/>
        </p:nvSpPr>
        <p:spPr>
          <a:xfrm>
            <a:off x="1387256" y="3028329"/>
            <a:ext cx="11626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Akamai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95FB34-CBA3-5040-37F1-0A3F1B2EB5A2}"/>
              </a:ext>
            </a:extLst>
          </p:cNvPr>
          <p:cNvSpPr txBox="1"/>
          <p:nvPr/>
        </p:nvSpPr>
        <p:spPr>
          <a:xfrm>
            <a:off x="2642744" y="2288649"/>
            <a:ext cx="11626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NTT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752C52-F904-1082-293F-F4681B65831E}"/>
              </a:ext>
            </a:extLst>
          </p:cNvPr>
          <p:cNvSpPr txBox="1"/>
          <p:nvPr/>
        </p:nvSpPr>
        <p:spPr>
          <a:xfrm>
            <a:off x="2949678" y="2720784"/>
            <a:ext cx="11626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Singtel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21F79A-4A4E-AD38-0F10-E184892597DE}"/>
              </a:ext>
            </a:extLst>
          </p:cNvPr>
          <p:cNvSpPr txBox="1"/>
          <p:nvPr/>
        </p:nvSpPr>
        <p:spPr>
          <a:xfrm>
            <a:off x="2813255" y="3580233"/>
            <a:ext cx="11626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Jio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7EBF127-2F9A-3633-714A-E2D7478286C2}"/>
              </a:ext>
            </a:extLst>
          </p:cNvPr>
          <p:cNvSpPr txBox="1"/>
          <p:nvPr/>
        </p:nvSpPr>
        <p:spPr>
          <a:xfrm>
            <a:off x="2864879" y="3884176"/>
            <a:ext cx="11626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Softbank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0039FCD-7CA0-74C8-7F73-0ED4C490FE59}"/>
              </a:ext>
            </a:extLst>
          </p:cNvPr>
          <p:cNvSpPr txBox="1"/>
          <p:nvPr/>
        </p:nvSpPr>
        <p:spPr>
          <a:xfrm>
            <a:off x="3648383" y="4251537"/>
            <a:ext cx="11626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Alibaba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8C20E5E-8F44-801D-0ECF-4FA649580117}"/>
              </a:ext>
            </a:extLst>
          </p:cNvPr>
          <p:cNvSpPr txBox="1"/>
          <p:nvPr/>
        </p:nvSpPr>
        <p:spPr>
          <a:xfrm>
            <a:off x="3484618" y="4637962"/>
            <a:ext cx="11626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AWS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B39FC1B-0CAF-F11F-5316-4CFB4065F8F4}"/>
              </a:ext>
            </a:extLst>
          </p:cNvPr>
          <p:cNvSpPr txBox="1"/>
          <p:nvPr/>
        </p:nvSpPr>
        <p:spPr>
          <a:xfrm>
            <a:off x="3047098" y="4991720"/>
            <a:ext cx="11626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Azure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D874E20-8F49-A60B-82E0-4C45EA717CDE}"/>
              </a:ext>
            </a:extLst>
          </p:cNvPr>
          <p:cNvSpPr txBox="1"/>
          <p:nvPr/>
        </p:nvSpPr>
        <p:spPr>
          <a:xfrm>
            <a:off x="2642743" y="5316180"/>
            <a:ext cx="11626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Google Cloud</a:t>
            </a:r>
          </a:p>
        </p:txBody>
      </p:sp>
      <p:sp>
        <p:nvSpPr>
          <p:cNvPr id="39" name="Flowchart: Connector 38">
            <a:extLst>
              <a:ext uri="{FF2B5EF4-FFF2-40B4-BE49-F238E27FC236}">
                <a16:creationId xmlns:a16="http://schemas.microsoft.com/office/drawing/2014/main" id="{F273AEA0-E250-E6CE-47D0-3370E1E62FA2}"/>
              </a:ext>
            </a:extLst>
          </p:cNvPr>
          <p:cNvSpPr/>
          <p:nvPr/>
        </p:nvSpPr>
        <p:spPr>
          <a:xfrm>
            <a:off x="1170039" y="2615381"/>
            <a:ext cx="147475" cy="116169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352B9064-90B8-0174-7E9B-7C8D91F1FDE1}"/>
              </a:ext>
            </a:extLst>
          </p:cNvPr>
          <p:cNvSpPr/>
          <p:nvPr/>
        </p:nvSpPr>
        <p:spPr>
          <a:xfrm>
            <a:off x="1313518" y="3082154"/>
            <a:ext cx="147475" cy="116169"/>
          </a:xfrm>
          <a:prstGeom prst="flowChartConnector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Flowchart: Connector 40">
            <a:extLst>
              <a:ext uri="{FF2B5EF4-FFF2-40B4-BE49-F238E27FC236}">
                <a16:creationId xmlns:a16="http://schemas.microsoft.com/office/drawing/2014/main" id="{0128AF7D-E9D4-C302-698F-C62610B94B05}"/>
              </a:ext>
            </a:extLst>
          </p:cNvPr>
          <p:cNvSpPr/>
          <p:nvPr/>
        </p:nvSpPr>
        <p:spPr>
          <a:xfrm>
            <a:off x="2555167" y="2348192"/>
            <a:ext cx="147475" cy="116169"/>
          </a:xfrm>
          <a:prstGeom prst="flowChartConnector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A07A547C-795C-9058-160E-3CF9597E85AC}"/>
              </a:ext>
            </a:extLst>
          </p:cNvPr>
          <p:cNvSpPr/>
          <p:nvPr/>
        </p:nvSpPr>
        <p:spPr>
          <a:xfrm>
            <a:off x="2842437" y="2769918"/>
            <a:ext cx="147475" cy="116169"/>
          </a:xfrm>
          <a:prstGeom prst="flowChartConnector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Flowchart: Connector 42">
            <a:extLst>
              <a:ext uri="{FF2B5EF4-FFF2-40B4-BE49-F238E27FC236}">
                <a16:creationId xmlns:a16="http://schemas.microsoft.com/office/drawing/2014/main" id="{F2A46F24-4F68-277C-B155-C16CDEDCB09A}"/>
              </a:ext>
            </a:extLst>
          </p:cNvPr>
          <p:cNvSpPr/>
          <p:nvPr/>
        </p:nvSpPr>
        <p:spPr>
          <a:xfrm>
            <a:off x="2720772" y="3646867"/>
            <a:ext cx="147475" cy="116169"/>
          </a:xfrm>
          <a:prstGeom prst="flowChartConnector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B01FEF53-CDF2-243E-68CA-32F7AEFF5782}"/>
              </a:ext>
            </a:extLst>
          </p:cNvPr>
          <p:cNvSpPr/>
          <p:nvPr/>
        </p:nvSpPr>
        <p:spPr>
          <a:xfrm>
            <a:off x="2777303" y="3952709"/>
            <a:ext cx="147475" cy="116169"/>
          </a:xfrm>
          <a:prstGeom prst="flowChartConnector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Flowchart: Connector 44">
            <a:extLst>
              <a:ext uri="{FF2B5EF4-FFF2-40B4-BE49-F238E27FC236}">
                <a16:creationId xmlns:a16="http://schemas.microsoft.com/office/drawing/2014/main" id="{20418F9A-0BE9-9EBA-73BF-83C3124A8673}"/>
              </a:ext>
            </a:extLst>
          </p:cNvPr>
          <p:cNvSpPr/>
          <p:nvPr/>
        </p:nvSpPr>
        <p:spPr>
          <a:xfrm>
            <a:off x="3574645" y="4275934"/>
            <a:ext cx="147475" cy="116169"/>
          </a:xfrm>
          <a:prstGeom prst="flowChartConnector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679838A9-381D-5F0D-64DF-0E3D1A24853A}"/>
              </a:ext>
            </a:extLst>
          </p:cNvPr>
          <p:cNvSpPr/>
          <p:nvPr/>
        </p:nvSpPr>
        <p:spPr>
          <a:xfrm>
            <a:off x="3410880" y="4685918"/>
            <a:ext cx="147475" cy="116169"/>
          </a:xfrm>
          <a:prstGeom prst="flowChartConnector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Flowchart: Connector 46">
            <a:extLst>
              <a:ext uri="{FF2B5EF4-FFF2-40B4-BE49-F238E27FC236}">
                <a16:creationId xmlns:a16="http://schemas.microsoft.com/office/drawing/2014/main" id="{DB0754A7-044F-AD07-D3AE-BDE1995FA1EC}"/>
              </a:ext>
            </a:extLst>
          </p:cNvPr>
          <p:cNvSpPr/>
          <p:nvPr/>
        </p:nvSpPr>
        <p:spPr>
          <a:xfrm>
            <a:off x="2973360" y="5043128"/>
            <a:ext cx="147475" cy="116169"/>
          </a:xfrm>
          <a:prstGeom prst="flowChartConnector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7580E66F-3BA9-81F0-DB38-5ABAFEF04EBB}"/>
              </a:ext>
            </a:extLst>
          </p:cNvPr>
          <p:cNvSpPr/>
          <p:nvPr/>
        </p:nvSpPr>
        <p:spPr>
          <a:xfrm>
            <a:off x="2555167" y="5381205"/>
            <a:ext cx="147475" cy="116169"/>
          </a:xfrm>
          <a:prstGeom prst="flowChartConnector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549850C-B0AC-9935-393A-AC640DE176CA}"/>
              </a:ext>
            </a:extLst>
          </p:cNvPr>
          <p:cNvGrpSpPr/>
          <p:nvPr/>
        </p:nvGrpSpPr>
        <p:grpSpPr>
          <a:xfrm>
            <a:off x="77117" y="6563482"/>
            <a:ext cx="1463184" cy="246221"/>
            <a:chOff x="77118" y="6549536"/>
            <a:chExt cx="1463184" cy="246221"/>
          </a:xfrm>
        </p:grpSpPr>
        <p:sp>
          <p:nvSpPr>
            <p:cNvPr id="49" name="Flowchart: Connector 48">
              <a:extLst>
                <a:ext uri="{FF2B5EF4-FFF2-40B4-BE49-F238E27FC236}">
                  <a16:creationId xmlns:a16="http://schemas.microsoft.com/office/drawing/2014/main" id="{B1C743C4-E55E-0BE3-B9C1-CC42C8DE5229}"/>
                </a:ext>
              </a:extLst>
            </p:cNvPr>
            <p:cNvSpPr/>
            <p:nvPr/>
          </p:nvSpPr>
          <p:spPr>
            <a:xfrm>
              <a:off x="77118" y="6620785"/>
              <a:ext cx="147475" cy="116169"/>
            </a:xfrm>
            <a:prstGeom prst="flowChartConnector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D3276A4-9769-C74B-9756-6CF1FDA493D0}"/>
                </a:ext>
              </a:extLst>
            </p:cNvPr>
            <p:cNvSpPr txBox="1"/>
            <p:nvPr/>
          </p:nvSpPr>
          <p:spPr>
            <a:xfrm>
              <a:off x="157318" y="6549536"/>
              <a:ext cx="138298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Tier1 - </a:t>
              </a:r>
              <a:r>
                <a:rPr lang="en-US" sz="1000" dirty="0" err="1"/>
                <a:t>Hyperscalers</a:t>
              </a:r>
              <a:endParaRPr lang="en-IN" sz="1000" dirty="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C8E0DB0-7642-81D1-405D-1129486D3D4F}"/>
              </a:ext>
            </a:extLst>
          </p:cNvPr>
          <p:cNvGrpSpPr/>
          <p:nvPr/>
        </p:nvGrpSpPr>
        <p:grpSpPr>
          <a:xfrm>
            <a:off x="1761662" y="6579356"/>
            <a:ext cx="1463184" cy="246221"/>
            <a:chOff x="77118" y="6549536"/>
            <a:chExt cx="1463184" cy="246221"/>
          </a:xfrm>
        </p:grpSpPr>
        <p:sp>
          <p:nvSpPr>
            <p:cNvPr id="53" name="Flowchart: Connector 52">
              <a:extLst>
                <a:ext uri="{FF2B5EF4-FFF2-40B4-BE49-F238E27FC236}">
                  <a16:creationId xmlns:a16="http://schemas.microsoft.com/office/drawing/2014/main" id="{1E6B789D-15F3-3E6E-B5CA-26846F7EB267}"/>
                </a:ext>
              </a:extLst>
            </p:cNvPr>
            <p:cNvSpPr/>
            <p:nvPr/>
          </p:nvSpPr>
          <p:spPr>
            <a:xfrm>
              <a:off x="77118" y="6620785"/>
              <a:ext cx="147475" cy="116169"/>
            </a:xfrm>
            <a:prstGeom prst="flowChartConnector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CE8BF48-2803-3975-75D9-668E97742599}"/>
                </a:ext>
              </a:extLst>
            </p:cNvPr>
            <p:cNvSpPr txBox="1"/>
            <p:nvPr/>
          </p:nvSpPr>
          <p:spPr>
            <a:xfrm>
              <a:off x="157318" y="6549536"/>
              <a:ext cx="138298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Tier2 - </a:t>
              </a:r>
              <a:r>
                <a:rPr lang="en-US" sz="1000" dirty="0" err="1"/>
                <a:t>Telcoms</a:t>
              </a:r>
              <a:endParaRPr lang="en-IN" sz="1000" dirty="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E689ACC-456A-350F-11AA-DC40A1C0ABFE}"/>
              </a:ext>
            </a:extLst>
          </p:cNvPr>
          <p:cNvGrpSpPr/>
          <p:nvPr/>
        </p:nvGrpSpPr>
        <p:grpSpPr>
          <a:xfrm>
            <a:off x="3446207" y="6563482"/>
            <a:ext cx="1463184" cy="246221"/>
            <a:chOff x="77118" y="6549536"/>
            <a:chExt cx="1463184" cy="246221"/>
          </a:xfrm>
        </p:grpSpPr>
        <p:sp>
          <p:nvSpPr>
            <p:cNvPr id="56" name="Flowchart: Connector 55">
              <a:extLst>
                <a:ext uri="{FF2B5EF4-FFF2-40B4-BE49-F238E27FC236}">
                  <a16:creationId xmlns:a16="http://schemas.microsoft.com/office/drawing/2014/main" id="{AF307880-A289-E994-D53E-318E2E0B42B7}"/>
                </a:ext>
              </a:extLst>
            </p:cNvPr>
            <p:cNvSpPr/>
            <p:nvPr/>
          </p:nvSpPr>
          <p:spPr>
            <a:xfrm>
              <a:off x="77118" y="6620785"/>
              <a:ext cx="147475" cy="116169"/>
            </a:xfrm>
            <a:prstGeom prst="flowChartConnector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4C1B2DC-CB11-96EB-3CBB-6E312C1ACA4E}"/>
                </a:ext>
              </a:extLst>
            </p:cNvPr>
            <p:cNvSpPr txBox="1"/>
            <p:nvPr/>
          </p:nvSpPr>
          <p:spPr>
            <a:xfrm>
              <a:off x="157318" y="6549536"/>
              <a:ext cx="138298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Tier3 -  CDN</a:t>
              </a:r>
              <a:endParaRPr lang="en-IN" sz="1000" dirty="0"/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F244BAFE-FD1E-D13D-14B2-D05156827CA6}"/>
              </a:ext>
            </a:extLst>
          </p:cNvPr>
          <p:cNvSpPr txBox="1"/>
          <p:nvPr/>
        </p:nvSpPr>
        <p:spPr>
          <a:xfrm>
            <a:off x="4862663" y="1193266"/>
            <a:ext cx="729306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Tier1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</a:t>
            </a:r>
            <a:r>
              <a:rPr lang="en-US" dirty="0" err="1"/>
              <a:t>Hyperscalers</a:t>
            </a:r>
            <a:r>
              <a:rPr lang="en-US" dirty="0"/>
              <a:t>(Cloud-to-Edge) AWS, Microsoft, Google Cloud, Alibaba Cloud Win via enterprise relationships and deep APAC investments. Key products :  AWS Local Zones, Azure Edge Zones (partnered with telcos in Japan, India, Australia), Google Distributed Cloud, Alibaba ENS with 900 public cloud edge nodes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Tier2 </a:t>
            </a:r>
            <a:r>
              <a:rPr lang="en-US" dirty="0">
                <a:sym typeface="Wingdings" panose="05000000000000000000" pitchFamily="2" charset="2"/>
              </a:rPr>
              <a:t> Telecom/Network Edge SoftBank, Singtel, Reliance Jio, NTT own the physical network – towers, fiber, spectrum. Building MEC directly into 5G infrastructure. Win via government contracts, regulatory relationships.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ym typeface="Wingdings" panose="05000000000000000000" pitchFamily="2" charset="2"/>
              </a:rPr>
              <a:t>Tier3  CDN Cloudflare, Akamai, Fastly Specialize in latency optimization, security-first architecture and developer platforms.</a:t>
            </a:r>
            <a:r>
              <a:rPr lang="en-IN" dirty="0">
                <a:sym typeface="Wingdings" panose="05000000000000000000" pitchFamily="2" charset="2"/>
              </a:rPr>
              <a:t> Win where enterprises want no cloud lock-in.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ym typeface="Wingdings" panose="05000000000000000000" pitchFamily="2" charset="2"/>
              </a:rPr>
              <a:t>Three tiers compete on different strengths  </a:t>
            </a:r>
            <a:r>
              <a:rPr lang="en-IN" dirty="0" err="1">
                <a:sym typeface="Wingdings" panose="05000000000000000000" pitchFamily="2" charset="2"/>
              </a:rPr>
              <a:t>hyperscalers</a:t>
            </a:r>
            <a:r>
              <a:rPr lang="en-IN" dirty="0">
                <a:sym typeface="Wingdings" panose="05000000000000000000" pitchFamily="2" charset="2"/>
              </a:rPr>
              <a:t> on scale, telecommunication companies on proximity, CDN &amp; pure play on specialization. No single player dominated all three dimensions in APAC.</a:t>
            </a:r>
          </a:p>
        </p:txBody>
      </p:sp>
    </p:spTree>
    <p:extLst>
      <p:ext uri="{BB962C8B-B14F-4D97-AF65-F5344CB8AC3E}">
        <p14:creationId xmlns:p14="http://schemas.microsoft.com/office/powerpoint/2010/main" val="14962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99EE7-2C97-2098-51A2-6205AC1AB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A23ACE-1D27-4A68-1CBA-83E73CA83704}"/>
              </a:ext>
            </a:extLst>
          </p:cNvPr>
          <p:cNvSpPr txBox="1"/>
          <p:nvPr/>
        </p:nvSpPr>
        <p:spPr>
          <a:xfrm>
            <a:off x="0" y="-92113"/>
            <a:ext cx="12192000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900" u="sng" cap="all" dirty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  <a:t>Challenges &amp; Barriers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3B14F2-298D-D9F0-F2E5-B28079EBCB73}"/>
              </a:ext>
            </a:extLst>
          </p:cNvPr>
          <p:cNvSpPr txBox="1"/>
          <p:nvPr/>
        </p:nvSpPr>
        <p:spPr>
          <a:xfrm>
            <a:off x="-44245" y="936047"/>
            <a:ext cx="1228048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u="sng" dirty="0"/>
              <a:t>Challenge 1 </a:t>
            </a:r>
            <a:r>
              <a:rPr lang="en-US" b="1" u="sng" dirty="0">
                <a:sym typeface="Wingdings" panose="05000000000000000000" pitchFamily="2" charset="2"/>
              </a:rPr>
              <a:t> </a:t>
            </a:r>
            <a:r>
              <a:rPr lang="en-US" dirty="0">
                <a:sym typeface="Wingdings" panose="05000000000000000000" pitchFamily="2" charset="2"/>
              </a:rPr>
              <a:t>Regulatory fragmentation APAC has no unified data governance framework. India, China, Japan, Australia &amp; SEA nations have different data localization, privacy and infrastructure regulations. A company deploying edge across 6 APAC markets effectively builds 6 different compliance architectures. This raises deployment cost and slows market entry particularly for foreign companies trying to compete with giants like Alibaba</a:t>
            </a:r>
          </a:p>
          <a:p>
            <a:r>
              <a:rPr lang="en-US" dirty="0">
                <a:sym typeface="Wingdings" panose="05000000000000000000" pitchFamily="2" charset="2"/>
              </a:rPr>
              <a:t>     Commercial implication : Compliance consulting and managed services become a revenue opportunity.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u="sng" dirty="0">
                <a:sym typeface="Wingdings" panose="05000000000000000000" pitchFamily="2" charset="2"/>
              </a:rPr>
              <a:t>Challenge 2  </a:t>
            </a:r>
            <a:r>
              <a:rPr lang="en-US" dirty="0">
                <a:sym typeface="Wingdings" panose="05000000000000000000" pitchFamily="2" charset="2"/>
              </a:rPr>
              <a:t>High upfront capital expenditure Edge infrastructure requires deploying physical hardware closer to the data source across factories &amp; cell towers. Unlike centralized cloud, you can’t consolidate to one data center. For enterprises this mean significant capex before ROI is visible.</a:t>
            </a:r>
          </a:p>
          <a:p>
            <a:r>
              <a:rPr lang="en-US" dirty="0">
                <a:sym typeface="Wingdings" panose="05000000000000000000" pitchFamily="2" charset="2"/>
              </a:rPr>
              <a:t>     Commercial Implication: Accelerated the shift to Edge-as-a-Service models opportunity for telephone company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u="sng" dirty="0">
                <a:sym typeface="Wingdings" panose="05000000000000000000" pitchFamily="2" charset="2"/>
              </a:rPr>
              <a:t>Challenge 3  </a:t>
            </a:r>
            <a:r>
              <a:rPr lang="en-US" dirty="0">
                <a:sym typeface="Wingdings" panose="05000000000000000000" pitchFamily="2" charset="2"/>
              </a:rPr>
              <a:t>Infrastructure inequality across APAC 5G coverage in Singapore, Japan &amp; South Korea is world-class as compared to rural India &amp; Vietnam where connectivity is still patchy. Edge computing depends on reliable low-latency networks. </a:t>
            </a:r>
          </a:p>
          <a:p>
            <a:r>
              <a:rPr lang="en-US" dirty="0">
                <a:sym typeface="Wingdings" panose="05000000000000000000" pitchFamily="2" charset="2"/>
              </a:rPr>
              <a:t>     Commercial Implication: The APAC opportunity is concentrated in Tier1 cities and industrial corridors.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u="sng" dirty="0">
                <a:sym typeface="Wingdings" panose="05000000000000000000" pitchFamily="2" charset="2"/>
              </a:rPr>
              <a:t>Challenge 4  </a:t>
            </a:r>
            <a:r>
              <a:rPr lang="en-US" dirty="0">
                <a:sym typeface="Wingdings" panose="05000000000000000000" pitchFamily="2" charset="2"/>
              </a:rPr>
              <a:t>Security and latency standardization Edge nodes are physically distributed and often in unsecured locations such as factory floors or retail stores</a:t>
            </a:r>
            <a:r>
              <a:rPr lang="en-IN" dirty="0">
                <a:sym typeface="Wingdings" panose="05000000000000000000" pitchFamily="2" charset="2"/>
              </a:rPr>
              <a:t>. Each node is potential attack surface. Talent &amp; skill gap managing distributed edge infrastructure requires a different skillset from traditional cloud or on-premise IT combining networking, embedded systems, security and DevOps. This talent is scarce especially in APAC.</a:t>
            </a:r>
            <a:endParaRPr lang="en-U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358724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8FDE0-3D56-2EA0-BE9A-35623D03C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5D2D53-B182-2A48-41B0-71DE35D56512}"/>
              </a:ext>
            </a:extLst>
          </p:cNvPr>
          <p:cNvSpPr txBox="1"/>
          <p:nvPr/>
        </p:nvSpPr>
        <p:spPr>
          <a:xfrm>
            <a:off x="0" y="-78658"/>
            <a:ext cx="12368980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900" u="sng" cap="all" dirty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  <a:t>Growth Opportunities &amp; Recommendations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0CDE98-D7E7-1F3D-0449-D4E421220484}"/>
              </a:ext>
            </a:extLst>
          </p:cNvPr>
          <p:cNvSpPr txBox="1"/>
          <p:nvPr/>
        </p:nvSpPr>
        <p:spPr>
          <a:xfrm>
            <a:off x="0" y="767728"/>
            <a:ext cx="1207970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Opportunity 1</a:t>
            </a:r>
            <a:r>
              <a:rPr lang="en-US" dirty="0">
                <a:sym typeface="Wingdings" panose="05000000000000000000" pitchFamily="2" charset="2"/>
              </a:rPr>
              <a:t> Manufacturing &amp; Industrial Edge in China, South Korea, India OT-IT convergence are the driving factory-floor edge demand. Powered by China Made in China 2025, South Korea’s semiconductor fabs and India PLI scheme, making manufacturing &amp; industrial edge as the largest absolute-spend vertical in APAC</a:t>
            </a:r>
          </a:p>
          <a:p>
            <a:r>
              <a:rPr lang="en-US" dirty="0">
                <a:sym typeface="Wingdings" panose="05000000000000000000" pitchFamily="2" charset="2"/>
              </a:rPr>
              <a:t>     Buyers  Industrial conglomerates, EPC contractors and manufacturing zones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ym typeface="Wingdings" panose="05000000000000000000" pitchFamily="2" charset="2"/>
              </a:rPr>
              <a:t>Opportunity 2  5G MEC via Telcom Partnerships Japan, South Korea, India. Softbank, Jio &amp; Singtel need edge compute partners to monetize 5G networks. Opportunity is co-delivery, not direct selling. Japan and South Korea are 2-3 years ahead in MEC readiness.</a:t>
            </a:r>
          </a:p>
          <a:p>
            <a:r>
              <a:rPr lang="en-US" dirty="0">
                <a:sym typeface="Wingdings" panose="05000000000000000000" pitchFamily="2" charset="2"/>
              </a:rPr>
              <a:t>     Buyers  </a:t>
            </a:r>
            <a:r>
              <a:rPr lang="en-US" dirty="0" err="1">
                <a:sym typeface="Wingdings" panose="05000000000000000000" pitchFamily="2" charset="2"/>
              </a:rPr>
              <a:t>Telcoms</a:t>
            </a:r>
            <a:r>
              <a:rPr lang="en-US" dirty="0">
                <a:sym typeface="Wingdings" panose="05000000000000000000" pitchFamily="2" charset="2"/>
              </a:rPr>
              <a:t>, enterprises in gaming, BFSI &amp; autonomous vehicles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ym typeface="Wingdings" panose="05000000000000000000" pitchFamily="2" charset="2"/>
              </a:rPr>
              <a:t>Opportunity 3  Smart City &amp; Public Infrastructure SEA, India, Singapore Smart Nation, Indian Smart Cities Mission and Indonesia’s Nusantara are edge-dependent at their core. Government contracts are large, long-term and cycle-resilient.</a:t>
            </a:r>
          </a:p>
          <a:p>
            <a:r>
              <a:rPr lang="en-US" dirty="0">
                <a:sym typeface="Wingdings" panose="05000000000000000000" pitchFamily="2" charset="2"/>
              </a:rPr>
              <a:t>     Buyers  Government bodies, system integrators and urban developers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ym typeface="Wingdings" panose="05000000000000000000" pitchFamily="2" charset="2"/>
              </a:rPr>
              <a:t>Recommendations 1  Partner with Tier 2 </a:t>
            </a:r>
            <a:r>
              <a:rPr lang="en-US" dirty="0" err="1">
                <a:sym typeface="Wingdings" panose="05000000000000000000" pitchFamily="2" charset="2"/>
              </a:rPr>
              <a:t>telcoms</a:t>
            </a:r>
            <a:r>
              <a:rPr lang="en-US" dirty="0">
                <a:sym typeface="Wingdings" panose="05000000000000000000" pitchFamily="2" charset="2"/>
              </a:rPr>
              <a:t> co-selling through Jio, Singtel or Softbank reaches enterprise customers faster than direct entry in APAC markets.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ym typeface="Wingdings" panose="05000000000000000000" pitchFamily="2" charset="2"/>
              </a:rPr>
              <a:t>Recommendation 2  Prioritize India &amp; SEA over China more open competitive </a:t>
            </a:r>
            <a:r>
              <a:rPr lang="en-US" dirty="0" err="1">
                <a:sym typeface="Wingdings" panose="05000000000000000000" pitchFamily="2" charset="2"/>
              </a:rPr>
              <a:t>landscpaes</a:t>
            </a:r>
            <a:r>
              <a:rPr lang="en-US" dirty="0">
                <a:sym typeface="Wingdings" panose="05000000000000000000" pitchFamily="2" charset="2"/>
              </a:rPr>
              <a:t> with strong government tailwinds vs China’s Alibaba/Huawei dominance.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ym typeface="Wingdings" panose="05000000000000000000" pitchFamily="2" charset="2"/>
              </a:rPr>
              <a:t>Recommendation 3  Building compliance as </a:t>
            </a:r>
            <a:r>
              <a:rPr lang="en-US" dirty="0" err="1">
                <a:sym typeface="Wingdings" panose="05000000000000000000" pitchFamily="2" charset="2"/>
              </a:rPr>
              <a:t>feature,India</a:t>
            </a:r>
            <a:r>
              <a:rPr lang="en-US" dirty="0">
                <a:sym typeface="Wingdings" panose="05000000000000000000" pitchFamily="2" charset="2"/>
              </a:rPr>
              <a:t> DPDP, China PIPL &amp; SEA data laws  are different </a:t>
            </a:r>
          </a:p>
        </p:txBody>
      </p:sp>
    </p:spTree>
    <p:extLst>
      <p:ext uri="{BB962C8B-B14F-4D97-AF65-F5344CB8AC3E}">
        <p14:creationId xmlns:p14="http://schemas.microsoft.com/office/powerpoint/2010/main" val="771278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439E7-C953-6DAC-9732-F3A7D0012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CF5F8C-2992-1C0E-EF72-011FADB33DCF}"/>
              </a:ext>
            </a:extLst>
          </p:cNvPr>
          <p:cNvSpPr txBox="1"/>
          <p:nvPr/>
        </p:nvSpPr>
        <p:spPr>
          <a:xfrm>
            <a:off x="-117988" y="4570196"/>
            <a:ext cx="12192000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900" u="sng" cap="all" dirty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  <a:t>Sources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0FB7119-B6A6-8A27-803A-26FF58E92171}"/>
              </a:ext>
            </a:extLst>
          </p:cNvPr>
          <p:cNvGrpSpPr/>
          <p:nvPr/>
        </p:nvGrpSpPr>
        <p:grpSpPr>
          <a:xfrm>
            <a:off x="-117988" y="5531997"/>
            <a:ext cx="12958917" cy="461665"/>
            <a:chOff x="-88492" y="1148464"/>
            <a:chExt cx="12958917" cy="461665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DDBD7BE-90FE-5521-31D1-50896BB57959}"/>
                </a:ext>
              </a:extLst>
            </p:cNvPr>
            <p:cNvSpPr txBox="1"/>
            <p:nvPr/>
          </p:nvSpPr>
          <p:spPr>
            <a:xfrm>
              <a:off x="-88492" y="1148464"/>
              <a:ext cx="26350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u="sng" cap="all" dirty="0" err="1">
                  <a:blipFill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tile tx="6350" ty="-127000" sx="65000" sy="64000" flip="none" algn="tl"/>
                  </a:blipFill>
                  <a:latin typeface="+mj-lt"/>
                  <a:ea typeface="+mj-ea"/>
                  <a:cs typeface="+mj-cs"/>
                </a:rPr>
                <a:t>MarketsandMarkets</a:t>
              </a:r>
              <a:endParaRPr lang="en-US" sz="2400" u="sng" cap="all" dirty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  <a:sym typeface="Wingdings" panose="05000000000000000000" pitchFamily="2" charset="2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8B5DAFB-8448-D24B-B7D7-928B4D00E4E5}"/>
                </a:ext>
              </a:extLst>
            </p:cNvPr>
            <p:cNvSpPr txBox="1"/>
            <p:nvPr/>
          </p:nvSpPr>
          <p:spPr>
            <a:xfrm>
              <a:off x="3008670" y="1210019"/>
              <a:ext cx="986175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dirty="0">
                  <a:hlinkClick r:id="rId3"/>
                </a:rPr>
                <a:t>https://www.marketsandmarkets.com/Market-Reports/edge-computing</a:t>
              </a:r>
              <a:r>
                <a:rPr lang="en-IN" sz="1600" dirty="0">
                  <a:hlinkClick r:id="rId4"/>
                </a:rPr>
                <a:t>-market-133384090.html</a:t>
              </a:r>
              <a:endParaRPr lang="en-IN" sz="16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496BC8F-328C-0016-B92C-A86EED9B4ECE}"/>
              </a:ext>
            </a:extLst>
          </p:cNvPr>
          <p:cNvGrpSpPr/>
          <p:nvPr/>
        </p:nvGrpSpPr>
        <p:grpSpPr>
          <a:xfrm>
            <a:off x="-68827" y="6455327"/>
            <a:ext cx="12329654" cy="461665"/>
            <a:chOff x="-44249" y="2062215"/>
            <a:chExt cx="12329654" cy="46166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857245C-60F0-A799-1976-A13CD9C87C20}"/>
                </a:ext>
              </a:extLst>
            </p:cNvPr>
            <p:cNvSpPr txBox="1"/>
            <p:nvPr/>
          </p:nvSpPr>
          <p:spPr>
            <a:xfrm>
              <a:off x="3893572" y="2139159"/>
              <a:ext cx="83918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dirty="0">
                  <a:hlinkClick r:id="rId5" tooltip="https://www.fortunebusinessinsights.com/edge-computing-market-103760"/>
                </a:rPr>
                <a:t>https://www.fortunebusinessinsights.com/edge-computing-market-103760</a:t>
              </a:r>
              <a:endParaRPr lang="en-IN" sz="16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F168770-9C36-8BD8-CBBD-7C8CE31D8F18}"/>
                </a:ext>
              </a:extLst>
            </p:cNvPr>
            <p:cNvSpPr txBox="1"/>
            <p:nvPr/>
          </p:nvSpPr>
          <p:spPr>
            <a:xfrm>
              <a:off x="-44249" y="2062215"/>
              <a:ext cx="333313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u="sng" cap="all" dirty="0">
                  <a:blipFill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tile tx="6350" ty="-127000" sx="65000" sy="64000" flip="none" algn="tl"/>
                  </a:blipFill>
                  <a:latin typeface="+mj-lt"/>
                  <a:ea typeface="+mj-ea"/>
                  <a:cs typeface="+mj-cs"/>
                  <a:sym typeface="Wingdings" panose="05000000000000000000" pitchFamily="2" charset="2"/>
                </a:rPr>
                <a:t>FORTUNE BUSINESS INSIGHTS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F324F4D-44A9-8B09-00BA-6CC9FC0BF52B}"/>
              </a:ext>
            </a:extLst>
          </p:cNvPr>
          <p:cNvGrpSpPr/>
          <p:nvPr/>
        </p:nvGrpSpPr>
        <p:grpSpPr>
          <a:xfrm>
            <a:off x="-58995" y="5993662"/>
            <a:ext cx="12870428" cy="461665"/>
            <a:chOff x="-4" y="3182778"/>
            <a:chExt cx="12870428" cy="46166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1390D6E-5DC4-4BE5-E603-EF31EE786C1B}"/>
                </a:ext>
              </a:extLst>
            </p:cNvPr>
            <p:cNvSpPr txBox="1"/>
            <p:nvPr/>
          </p:nvSpPr>
          <p:spPr>
            <a:xfrm>
              <a:off x="3008669" y="3259723"/>
              <a:ext cx="986175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dirty="0">
                  <a:hlinkClick r:id="rId6"/>
                </a:rPr>
                <a:t>https://my.idc.com/getdoc.jsp?containerId=prUS53261225</a:t>
              </a:r>
              <a:endParaRPr lang="en-IN" sz="16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F46F7DD-ABFA-D669-2B6E-3CFDBB5F09AA}"/>
                </a:ext>
              </a:extLst>
            </p:cNvPr>
            <p:cNvSpPr txBox="1"/>
            <p:nvPr/>
          </p:nvSpPr>
          <p:spPr>
            <a:xfrm>
              <a:off x="-4" y="3182778"/>
              <a:ext cx="25465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u="sng" cap="all" dirty="0">
                  <a:blipFill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tile tx="6350" ty="-127000" sx="65000" sy="64000" flip="none" algn="tl"/>
                  </a:blipFill>
                  <a:latin typeface="+mj-lt"/>
                  <a:ea typeface="+mj-ea"/>
                  <a:cs typeface="+mj-cs"/>
                  <a:sym typeface="Wingdings" panose="05000000000000000000" pitchFamily="2" charset="2"/>
                </a:rPr>
                <a:t>IDC GLOBAL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A65ACDE7-C768-50EE-3AD1-DDAF856B4301}"/>
              </a:ext>
            </a:extLst>
          </p:cNvPr>
          <p:cNvSpPr txBox="1"/>
          <p:nvPr/>
        </p:nvSpPr>
        <p:spPr>
          <a:xfrm>
            <a:off x="-201562" y="-125346"/>
            <a:ext cx="12192000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900" u="sng" cap="all" dirty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  <a:t>RESEARCH SCOPE</a:t>
            </a:r>
            <a:endParaRPr lang="en-IN" sz="4900" u="sng" cap="all" dirty="0">
              <a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tile tx="6350" ty="-127000" sx="65000" sy="64000" flip="none" algn="tl"/>
              </a:blip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564DE78-11A3-7531-4E40-EF218E9658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508575"/>
              </p:ext>
            </p:extLst>
          </p:nvPr>
        </p:nvGraphicFramePr>
        <p:xfrm>
          <a:off x="92194" y="717313"/>
          <a:ext cx="11956024" cy="389930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182760">
                  <a:extLst>
                    <a:ext uri="{9D8B030D-6E8A-4147-A177-3AD203B41FA5}">
                      <a16:colId xmlns:a16="http://schemas.microsoft.com/office/drawing/2014/main" val="3260804567"/>
                    </a:ext>
                  </a:extLst>
                </a:gridCol>
                <a:gridCol w="9773264">
                  <a:extLst>
                    <a:ext uri="{9D8B030D-6E8A-4147-A177-3AD203B41FA5}">
                      <a16:colId xmlns:a16="http://schemas.microsoft.com/office/drawing/2014/main" val="3621789246"/>
                    </a:ext>
                  </a:extLst>
                </a:gridCol>
              </a:tblGrid>
              <a:tr h="36099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Parameters</a:t>
                      </a:r>
                      <a:endParaRPr lang="en-IN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Definition used in this study</a:t>
                      </a:r>
                      <a:endParaRPr lang="en-IN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05038083"/>
                  </a:ext>
                </a:extLst>
              </a:tr>
              <a:tr h="554421">
                <a:tc>
                  <a:txBody>
                    <a:bodyPr/>
                    <a:lstStyle/>
                    <a:p>
                      <a:r>
                        <a:rPr lang="en-US" dirty="0"/>
                        <a:t>Market definition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Edge computing encompassing hardware(servers, gateways), software(data, network management) and services(managed &amp; professional) across Cloud Edge &amp; on-premise edge.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0272889"/>
                  </a:ext>
                </a:extLst>
              </a:tr>
              <a:tr h="554421">
                <a:tc>
                  <a:txBody>
                    <a:bodyPr/>
                    <a:lstStyle/>
                    <a:p>
                      <a:r>
                        <a:rPr lang="en-US" dirty="0"/>
                        <a:t>Geographic scope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Asia-Pacific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 China, India, Japan, South Korea, Singapore, Southeast Asia(Vietnam, Thailand,</a:t>
                      </a:r>
                    </a:p>
                    <a:p>
                      <a:r>
                        <a:rPr lang="en-US" dirty="0">
                          <a:sym typeface="Wingdings" panose="05000000000000000000" pitchFamily="2" charset="2"/>
                        </a:rPr>
                        <a:t>Malayasia, Indonesia) Australia.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3453379"/>
                  </a:ext>
                </a:extLst>
              </a:tr>
              <a:tr h="427856">
                <a:tc>
                  <a:txBody>
                    <a:bodyPr/>
                    <a:lstStyle/>
                    <a:p>
                      <a:r>
                        <a:rPr lang="en-US" dirty="0"/>
                        <a:t>Industry verticals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Telecom/5G MEC, Manufacturing &amp; Industrial IoT, Smart Cities, BFSI &amp; Healthcare.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98691"/>
                  </a:ext>
                </a:extLst>
              </a:tr>
              <a:tr h="422787">
                <a:tc>
                  <a:txBody>
                    <a:bodyPr/>
                    <a:lstStyle/>
                    <a:p>
                      <a:r>
                        <a:rPr lang="en-US" dirty="0"/>
                        <a:t>Base year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2025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24160498"/>
                  </a:ext>
                </a:extLst>
              </a:tr>
              <a:tr h="477874">
                <a:tc>
                  <a:txBody>
                    <a:bodyPr/>
                    <a:lstStyle/>
                    <a:p>
                      <a:r>
                        <a:rPr lang="en-US" dirty="0"/>
                        <a:t>Forecast period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2025-2030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6984538"/>
                  </a:ext>
                </a:extLst>
              </a:tr>
              <a:tr h="376223">
                <a:tc>
                  <a:txBody>
                    <a:bodyPr/>
                    <a:lstStyle/>
                    <a:p>
                      <a:r>
                        <a:rPr lang="en-US" dirty="0"/>
                        <a:t>Currency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USD billion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27771018"/>
                  </a:ext>
                </a:extLst>
              </a:tr>
            </a:tbl>
          </a:graphicData>
        </a:graphic>
      </p:graphicFrame>
      <p:sp>
        <p:nvSpPr>
          <p:cNvPr id="15" name="Arrow: Right 14">
            <a:extLst>
              <a:ext uri="{FF2B5EF4-FFF2-40B4-BE49-F238E27FC236}">
                <a16:creationId xmlns:a16="http://schemas.microsoft.com/office/drawing/2014/main" id="{3CCB5129-13DE-79C6-6A78-22CCAF54C3C0}"/>
              </a:ext>
            </a:extLst>
          </p:cNvPr>
          <p:cNvSpPr/>
          <p:nvPr/>
        </p:nvSpPr>
        <p:spPr>
          <a:xfrm>
            <a:off x="3323303" y="6455326"/>
            <a:ext cx="415319" cy="4026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276DA739-8668-F24A-FF21-E2769F4533A6}"/>
              </a:ext>
            </a:extLst>
          </p:cNvPr>
          <p:cNvSpPr/>
          <p:nvPr/>
        </p:nvSpPr>
        <p:spPr>
          <a:xfrm>
            <a:off x="2072243" y="5993662"/>
            <a:ext cx="415319" cy="4026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9E8AFF9A-572C-8B06-2AA7-15372228F9BD}"/>
              </a:ext>
            </a:extLst>
          </p:cNvPr>
          <p:cNvSpPr/>
          <p:nvPr/>
        </p:nvSpPr>
        <p:spPr>
          <a:xfrm>
            <a:off x="2487562" y="5561492"/>
            <a:ext cx="415319" cy="4026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1993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1091</TotalTime>
  <Words>1591</Words>
  <Application>Microsoft Office PowerPoint</Application>
  <PresentationFormat>Widescreen</PresentationFormat>
  <Paragraphs>167</Paragraphs>
  <Slides>10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Rockwell</vt:lpstr>
      <vt:lpstr>Rockwell Condensed</vt:lpstr>
      <vt:lpstr>Wingdings</vt:lpstr>
      <vt:lpstr>Wood Type</vt:lpstr>
      <vt:lpstr>Worksheet</vt:lpstr>
      <vt:lpstr>Growth Opportunities in the Edge computing market in asia-pacific region</vt:lpstr>
      <vt:lpstr>Executive Summary</vt:lpstr>
      <vt:lpstr>Edge Computing Why it matter now &amp; in future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prathamesh sharma</dc:creator>
  <cp:lastModifiedBy>prathamesh sharma</cp:lastModifiedBy>
  <cp:revision>9</cp:revision>
  <dcterms:created xsi:type="dcterms:W3CDTF">2026-05-22T11:48:05Z</dcterms:created>
  <dcterms:modified xsi:type="dcterms:W3CDTF">2026-05-24T16:01:08Z</dcterms:modified>
</cp:coreProperties>
</file>